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56" r:id="rId5"/>
    <p:sldId id="290" r:id="rId6"/>
    <p:sldId id="288" r:id="rId7"/>
    <p:sldId id="289" r:id="rId8"/>
    <p:sldId id="283" r:id="rId9"/>
    <p:sldId id="291" r:id="rId10"/>
    <p:sldId id="292" r:id="rId11"/>
    <p:sldId id="277" r:id="rId12"/>
    <p:sldId id="294" r:id="rId13"/>
    <p:sldId id="293" r:id="rId14"/>
    <p:sldId id="297" r:id="rId15"/>
    <p:sldId id="296" r:id="rId16"/>
    <p:sldId id="295" r:id="rId17"/>
    <p:sldId id="298" r:id="rId18"/>
    <p:sldId id="299" r:id="rId19"/>
    <p:sldId id="300" r:id="rId20"/>
    <p:sldId id="301" r:id="rId21"/>
    <p:sldId id="302" r:id="rId22"/>
    <p:sldId id="303" r:id="rId23"/>
    <p:sldId id="304" r:id="rId24"/>
    <p:sldId id="305" r:id="rId25"/>
    <p:sldId id="306" r:id="rId26"/>
    <p:sldId id="307" r:id="rId27"/>
    <p:sldId id="308" r:id="rId28"/>
    <p:sldId id="310" r:id="rId29"/>
    <p:sldId id="309" r:id="rId30"/>
    <p:sldId id="311" r:id="rId31"/>
    <p:sldId id="312" r:id="rId32"/>
    <p:sldId id="313" r:id="rId33"/>
    <p:sldId id="314" r:id="rId34"/>
    <p:sldId id="2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AE4CC42-F14E-4EAE-9BEF-AF7F34EC131D}">
          <p14:sldIdLst>
            <p14:sldId id="256"/>
            <p14:sldId id="290"/>
            <p14:sldId id="288"/>
            <p14:sldId id="289"/>
            <p14:sldId id="283"/>
            <p14:sldId id="291"/>
            <p14:sldId id="292"/>
            <p14:sldId id="277"/>
            <p14:sldId id="294"/>
            <p14:sldId id="293"/>
            <p14:sldId id="297"/>
            <p14:sldId id="296"/>
            <p14:sldId id="295"/>
            <p14:sldId id="298"/>
            <p14:sldId id="299"/>
            <p14:sldId id="300"/>
            <p14:sldId id="301"/>
            <p14:sldId id="302"/>
            <p14:sldId id="303"/>
            <p14:sldId id="304"/>
            <p14:sldId id="305"/>
            <p14:sldId id="306"/>
            <p14:sldId id="307"/>
            <p14:sldId id="308"/>
            <p14:sldId id="310"/>
            <p14:sldId id="309"/>
            <p14:sldId id="311"/>
            <p14:sldId id="312"/>
            <p14:sldId id="313"/>
            <p14:sldId id="314"/>
            <p14:sldId id="285"/>
          </p14:sldIdLst>
        </p14:section>
      </p14:sectionLst>
    </p:ex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1000" autoAdjust="0"/>
  </p:normalViewPr>
  <p:slideViewPr>
    <p:cSldViewPr snapToGrid="0" showGuides="1">
      <p:cViewPr varScale="1">
        <p:scale>
          <a:sx n="65" d="100"/>
          <a:sy n="65" d="100"/>
        </p:scale>
        <p:origin x="568" y="60"/>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3/10/2026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4268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5855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9027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6464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0867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990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90290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098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668287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29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125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27584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73893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20200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450395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0E99D68D-2BB7-44A4-9917-FAB37CCE4A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33608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31</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3/10/2026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384995"/>
          </a:xfrm>
        </p:spPr>
        <p:txBody>
          <a:bodyPr lIns="0" tIns="0" rIns="0" bIns="0" anchor="t">
            <a:spAutoFit/>
          </a:bodyPr>
          <a:lstStyle/>
          <a:p>
            <a:r>
              <a:rPr lang="en-IN" dirty="0">
                <a:solidFill>
                  <a:schemeClr val="bg1"/>
                </a:solidFill>
              </a:rPr>
              <a:t>Northwind Traders</a:t>
            </a:r>
            <a:br>
              <a:rPr lang="en-US" dirty="0">
                <a:solidFill>
                  <a:schemeClr val="bg1"/>
                </a:solidFill>
              </a:rPr>
            </a:br>
            <a:r>
              <a:rPr lang="en-US" sz="4000" dirty="0">
                <a:solidFill>
                  <a:schemeClr val="accent4"/>
                </a:solidFill>
              </a:rPr>
              <a:t>Sales &amp; Operation Analysis</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3724968"/>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E7CC-9C22-4849-BB5B-083FCB40BE44}"/>
              </a:ext>
            </a:extLst>
          </p:cNvPr>
          <p:cNvSpPr>
            <a:spLocks noGrp="1"/>
          </p:cNvSpPr>
          <p:nvPr>
            <p:ph type="title"/>
          </p:nvPr>
        </p:nvSpPr>
        <p:spPr>
          <a:xfrm>
            <a:off x="3901440" y="0"/>
            <a:ext cx="4836159" cy="1105084"/>
          </a:xfrm>
        </p:spPr>
        <p:txBody>
          <a:bodyPr/>
          <a:lstStyle/>
          <a:p>
            <a:r>
              <a:rPr lang="en-IN" b="1" dirty="0">
                <a:solidFill>
                  <a:schemeClr val="accent3">
                    <a:lumMod val="75000"/>
                  </a:schemeClr>
                </a:solidFill>
              </a:rPr>
              <a:t>Project Overview</a:t>
            </a:r>
          </a:p>
        </p:txBody>
      </p:sp>
      <p:sp>
        <p:nvSpPr>
          <p:cNvPr id="3" name="Content Placeholder 2">
            <a:extLst>
              <a:ext uri="{FF2B5EF4-FFF2-40B4-BE49-F238E27FC236}">
                <a16:creationId xmlns:a16="http://schemas.microsoft.com/office/drawing/2014/main" id="{0BD22A85-95B5-46D0-940E-243BB71B72A8}"/>
              </a:ext>
            </a:extLst>
          </p:cNvPr>
          <p:cNvSpPr>
            <a:spLocks noGrp="1"/>
          </p:cNvSpPr>
          <p:nvPr>
            <p:ph idx="1"/>
          </p:nvPr>
        </p:nvSpPr>
        <p:spPr>
          <a:xfrm>
            <a:off x="4500880" y="2242319"/>
            <a:ext cx="7487919" cy="2457707"/>
          </a:xfrm>
        </p:spPr>
        <p:txBody>
          <a:bodyPr>
            <a:noAutofit/>
          </a:bodyPr>
          <a:lstStyle/>
          <a:p>
            <a:pPr algn="just"/>
            <a:r>
              <a:rPr lang="en-IN" sz="2400" dirty="0">
                <a:latin typeface="Arial" panose="020B0604020202020204" pitchFamily="34" charset="0"/>
                <a:cs typeface="Arial" panose="020B0604020202020204" pitchFamily="34" charset="0"/>
              </a:rPr>
              <a:t>Northwind Traders is a globally operating wholesale distributor dealing in food and beverage products.</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This project analyses multi-dimensional business data across </a:t>
            </a:r>
            <a:r>
              <a:rPr lang="en-IN" sz="2400" b="1" dirty="0">
                <a:latin typeface="Arial" panose="020B0604020202020204" pitchFamily="34" charset="0"/>
                <a:cs typeface="Arial" panose="020B0604020202020204" pitchFamily="34" charset="0"/>
              </a:rPr>
              <a:t>sales</a:t>
            </a:r>
            <a:r>
              <a:rPr lang="en-IN" sz="2400" dirty="0">
                <a:latin typeface="Arial" panose="020B06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customers</a:t>
            </a:r>
            <a:r>
              <a:rPr lang="en-IN" sz="2400" dirty="0">
                <a:latin typeface="Arial" panose="020B06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employees</a:t>
            </a:r>
            <a:r>
              <a:rPr lang="en-IN" sz="2400" dirty="0">
                <a:latin typeface="Arial" panose="020B06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products</a:t>
            </a:r>
            <a:r>
              <a:rPr lang="en-IN" sz="2400" dirty="0">
                <a:latin typeface="Arial" panose="020B0604020202020204" pitchFamily="34" charset="0"/>
                <a:cs typeface="Arial" panose="020B0604020202020204" pitchFamily="34" charset="0"/>
              </a:rPr>
              <a:t>, and </a:t>
            </a:r>
            <a:r>
              <a:rPr lang="en-IN" sz="2400" b="1" dirty="0">
                <a:latin typeface="Arial" panose="020B0604020202020204" pitchFamily="34" charset="0"/>
                <a:cs typeface="Arial" panose="020B0604020202020204" pitchFamily="34" charset="0"/>
              </a:rPr>
              <a:t>suppliers</a:t>
            </a:r>
            <a:r>
              <a:rPr lang="en-IN" sz="2400" dirty="0">
                <a:latin typeface="Arial" panose="020B0604020202020204" pitchFamily="34" charset="0"/>
                <a:cs typeface="Arial" panose="020B0604020202020204" pitchFamily="34" charset="0"/>
              </a:rPr>
              <a:t>.</a:t>
            </a:r>
          </a:p>
          <a:p>
            <a:pPr algn="just"/>
            <a:r>
              <a:rPr lang="en-IN" sz="2400" dirty="0">
                <a:latin typeface="Arial" panose="020B0604020202020204" pitchFamily="34" charset="0"/>
                <a:cs typeface="Arial" panose="020B0604020202020204" pitchFamily="34" charset="0"/>
              </a:rPr>
              <a:t>The goal is to convert raw operational data into meaningful insights that help the organization improve decision-making and performance</a:t>
            </a:r>
            <a:r>
              <a:rPr lang="en-IN" sz="2400" dirty="0"/>
              <a:t>.</a:t>
            </a:r>
          </a:p>
        </p:txBody>
      </p:sp>
      <p:cxnSp>
        <p:nvCxnSpPr>
          <p:cNvPr id="4" name="Straight Connector 3">
            <a:extLst>
              <a:ext uri="{FF2B5EF4-FFF2-40B4-BE49-F238E27FC236}">
                <a16:creationId xmlns:a16="http://schemas.microsoft.com/office/drawing/2014/main" id="{E0D9AA28-566E-40D1-89D6-CB84D872B7C5}"/>
              </a:ext>
              <a:ext uri="{C183D7F6-B498-43B3-948B-1728B52AA6E4}">
                <adec:decorative xmlns:adec="http://schemas.microsoft.com/office/drawing/2017/decorative" val="1"/>
              </a:ext>
            </a:extLst>
          </p:cNvPr>
          <p:cNvCxnSpPr>
            <a:cxnSpLocks/>
            <a:endCxn id="2" idx="1"/>
          </p:cNvCxnSpPr>
          <p:nvPr/>
        </p:nvCxnSpPr>
        <p:spPr>
          <a:xfrm>
            <a:off x="0" y="522898"/>
            <a:ext cx="3901440" cy="29644"/>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E3E0D7-05C0-49E5-A0E2-46CA00311AB6}"/>
              </a:ext>
              <a:ext uri="{C183D7F6-B498-43B3-948B-1728B52AA6E4}">
                <adec:decorative xmlns:adec="http://schemas.microsoft.com/office/drawing/2017/decorative" val="1"/>
              </a:ext>
            </a:extLst>
          </p:cNvPr>
          <p:cNvCxnSpPr>
            <a:cxnSpLocks/>
            <a:stCxn id="2" idx="3"/>
          </p:cNvCxnSpPr>
          <p:nvPr/>
        </p:nvCxnSpPr>
        <p:spPr>
          <a:xfrm>
            <a:off x="8737599" y="552542"/>
            <a:ext cx="3454401" cy="35218"/>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11" name="Graphic 10" descr="Target Audience with solid fill">
            <a:extLst>
              <a:ext uri="{FF2B5EF4-FFF2-40B4-BE49-F238E27FC236}">
                <a16:creationId xmlns:a16="http://schemas.microsoft.com/office/drawing/2014/main" id="{312E03BA-7C6C-4988-A427-4AC661205C7D}"/>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9053" y="2077185"/>
            <a:ext cx="3088640" cy="3088640"/>
          </a:xfrm>
          <a:prstGeom prst="rect">
            <a:avLst/>
          </a:prstGeom>
        </p:spPr>
      </p:pic>
    </p:spTree>
    <p:extLst>
      <p:ext uri="{BB962C8B-B14F-4D97-AF65-F5344CB8AC3E}">
        <p14:creationId xmlns:p14="http://schemas.microsoft.com/office/powerpoint/2010/main" val="230795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E7CC-9C22-4849-BB5B-083FCB40BE44}"/>
              </a:ext>
            </a:extLst>
          </p:cNvPr>
          <p:cNvSpPr>
            <a:spLocks noGrp="1"/>
          </p:cNvSpPr>
          <p:nvPr>
            <p:ph type="title"/>
          </p:nvPr>
        </p:nvSpPr>
        <p:spPr>
          <a:xfrm>
            <a:off x="4678681" y="-139884"/>
            <a:ext cx="2870199" cy="1325563"/>
          </a:xfrm>
        </p:spPr>
        <p:txBody>
          <a:bodyPr/>
          <a:lstStyle/>
          <a:p>
            <a:r>
              <a:rPr lang="en-IN" b="1" dirty="0">
                <a:solidFill>
                  <a:schemeClr val="accent3">
                    <a:lumMod val="75000"/>
                  </a:schemeClr>
                </a:solidFill>
              </a:rPr>
              <a:t>Objective</a:t>
            </a:r>
          </a:p>
        </p:txBody>
      </p:sp>
      <p:cxnSp>
        <p:nvCxnSpPr>
          <p:cNvPr id="4" name="Straight Connector 3">
            <a:extLst>
              <a:ext uri="{FF2B5EF4-FFF2-40B4-BE49-F238E27FC236}">
                <a16:creationId xmlns:a16="http://schemas.microsoft.com/office/drawing/2014/main" id="{E0D9AA28-566E-40D1-89D6-CB84D872B7C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E3E0D7-05C0-49E5-A0E2-46CA00311AB6}"/>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7" name="Graphic 6" descr="Target with solid fill">
            <a:extLst>
              <a:ext uri="{FF2B5EF4-FFF2-40B4-BE49-F238E27FC236}">
                <a16:creationId xmlns:a16="http://schemas.microsoft.com/office/drawing/2014/main" id="{5EADB482-DFA4-46AB-BFB9-99789316F058}"/>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3320" y="1840066"/>
            <a:ext cx="2839720" cy="2839720"/>
          </a:xfrm>
          <a:prstGeom prst="rect">
            <a:avLst/>
          </a:prstGeom>
        </p:spPr>
      </p:pic>
      <p:sp>
        <p:nvSpPr>
          <p:cNvPr id="11" name="Rectangle 4">
            <a:extLst>
              <a:ext uri="{FF2B5EF4-FFF2-40B4-BE49-F238E27FC236}">
                <a16:creationId xmlns:a16="http://schemas.microsoft.com/office/drawing/2014/main" id="{046221CA-925D-4BE3-A1D3-F8F25D5A44CF}"/>
              </a:ext>
            </a:extLst>
          </p:cNvPr>
          <p:cNvSpPr>
            <a:spLocks noGrp="1" noChangeArrowheads="1"/>
          </p:cNvSpPr>
          <p:nvPr>
            <p:ph idx="1"/>
          </p:nvPr>
        </p:nvSpPr>
        <p:spPr bwMode="auto">
          <a:xfrm>
            <a:off x="4299426" y="1367100"/>
            <a:ext cx="761269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Build a comprehensive BI dashboard combining data from multiple sources.</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Analyze customer behavior, sales patterns, and supplier performance.</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Identify operational inefficiencies, anomalies, and opportunities for improvement.</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Support data-driven strategy for marketing, supply chain, and category-level growth.</a:t>
            </a:r>
          </a:p>
          <a:p>
            <a:pPr algn="just"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Enable leadership to make faster and more accurate decisions.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569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E7CC-9C22-4849-BB5B-083FCB40BE44}"/>
              </a:ext>
            </a:extLst>
          </p:cNvPr>
          <p:cNvSpPr>
            <a:spLocks noGrp="1"/>
          </p:cNvSpPr>
          <p:nvPr>
            <p:ph type="title"/>
          </p:nvPr>
        </p:nvSpPr>
        <p:spPr>
          <a:xfrm>
            <a:off x="4148689" y="38050"/>
            <a:ext cx="3894621" cy="1325563"/>
          </a:xfrm>
        </p:spPr>
        <p:txBody>
          <a:bodyPr>
            <a:normAutofit fontScale="90000"/>
          </a:bodyPr>
          <a:lstStyle/>
          <a:p>
            <a:pPr algn="ctr"/>
            <a:r>
              <a:rPr lang="en-IN" b="1" dirty="0">
                <a:solidFill>
                  <a:schemeClr val="accent3">
                    <a:lumMod val="75000"/>
                  </a:schemeClr>
                </a:solidFill>
              </a:rPr>
              <a:t>Significance of This Analysis </a:t>
            </a:r>
          </a:p>
        </p:txBody>
      </p:sp>
      <p:sp>
        <p:nvSpPr>
          <p:cNvPr id="3" name="Content Placeholder 2">
            <a:extLst>
              <a:ext uri="{FF2B5EF4-FFF2-40B4-BE49-F238E27FC236}">
                <a16:creationId xmlns:a16="http://schemas.microsoft.com/office/drawing/2014/main" id="{0BD22A85-95B5-46D0-940E-243BB71B72A8}"/>
              </a:ext>
            </a:extLst>
          </p:cNvPr>
          <p:cNvSpPr>
            <a:spLocks noGrp="1"/>
          </p:cNvSpPr>
          <p:nvPr>
            <p:ph idx="1"/>
          </p:nvPr>
        </p:nvSpPr>
        <p:spPr>
          <a:xfrm>
            <a:off x="838200" y="1891933"/>
            <a:ext cx="10515600" cy="3797666"/>
          </a:xfrm>
        </p:spPr>
        <p:txBody>
          <a:bodyPr/>
          <a:lstStyle/>
          <a:p>
            <a:pPr marL="0" indent="0">
              <a:buNone/>
            </a:pPr>
            <a:r>
              <a:rPr lang="en-IN" sz="2400" dirty="0">
                <a:latin typeface="Arial" panose="020B0604020202020204" pitchFamily="34" charset="0"/>
                <a:cs typeface="Arial" panose="020B0604020202020204" pitchFamily="34" charset="0"/>
              </a:rPr>
              <a:t>This analysis provides:</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Better understanding of </a:t>
            </a:r>
            <a:r>
              <a:rPr lang="en-IN" sz="2400" b="1" dirty="0">
                <a:latin typeface="Arial" panose="020B0604020202020204" pitchFamily="34" charset="0"/>
                <a:cs typeface="Arial" panose="020B0604020202020204" pitchFamily="34" charset="0"/>
              </a:rPr>
              <a:t>customer segmentation</a:t>
            </a:r>
            <a:r>
              <a:rPr lang="en-IN" sz="2400" dirty="0">
                <a:latin typeface="Arial" panose="020B0604020202020204" pitchFamily="34" charset="0"/>
                <a:cs typeface="Arial" panose="020B0604020202020204" pitchFamily="34" charset="0"/>
              </a:rPr>
              <a:t> and profitability.</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Clear visibility of </a:t>
            </a:r>
            <a:r>
              <a:rPr lang="en-IN" sz="2400" b="1" dirty="0">
                <a:latin typeface="Arial" panose="020B0604020202020204" pitchFamily="34" charset="0"/>
                <a:cs typeface="Arial" panose="020B0604020202020204" pitchFamily="34" charset="0"/>
              </a:rPr>
              <a:t>regional sales distribution</a:t>
            </a:r>
            <a:r>
              <a:rPr lang="en-IN" sz="24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Insights into </a:t>
            </a:r>
            <a:r>
              <a:rPr lang="en-IN" sz="2400" b="1" dirty="0">
                <a:latin typeface="Arial" panose="020B0604020202020204" pitchFamily="34" charset="0"/>
                <a:cs typeface="Arial" panose="020B0604020202020204" pitchFamily="34" charset="0"/>
              </a:rPr>
              <a:t>supplier pricing differences and category strengths</a:t>
            </a:r>
            <a:r>
              <a:rPr lang="en-IN" sz="24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Identification of </a:t>
            </a:r>
            <a:r>
              <a:rPr lang="en-IN" sz="2400" b="1" dirty="0">
                <a:latin typeface="Arial" panose="020B0604020202020204" pitchFamily="34" charset="0"/>
                <a:cs typeface="Arial" panose="020B0604020202020204" pitchFamily="34" charset="0"/>
              </a:rPr>
              <a:t>seasonal demand fluctuations</a:t>
            </a:r>
            <a:r>
              <a:rPr lang="en-IN" sz="24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Data-backed optimization of </a:t>
            </a:r>
            <a:r>
              <a:rPr lang="en-IN" sz="2400" b="1" dirty="0">
                <a:latin typeface="Arial" panose="020B0604020202020204" pitchFamily="34" charset="0"/>
                <a:cs typeface="Arial" panose="020B0604020202020204" pitchFamily="34" charset="0"/>
              </a:rPr>
              <a:t>inventory planning</a:t>
            </a:r>
            <a:r>
              <a:rPr lang="en-IN" sz="2400" dirty="0">
                <a:latin typeface="Arial" panose="020B0604020202020204" pitchFamily="34" charset="0"/>
                <a:cs typeface="Arial" panose="020B0604020202020204" pitchFamily="34" charset="0"/>
              </a:rPr>
              <a:t> and </a:t>
            </a:r>
            <a:r>
              <a:rPr lang="en-IN" sz="2400" b="1" dirty="0">
                <a:latin typeface="Arial" panose="020B0604020202020204" pitchFamily="34" charset="0"/>
                <a:cs typeface="Arial" panose="020B0604020202020204" pitchFamily="34" charset="0"/>
              </a:rPr>
              <a:t>product strategies</a:t>
            </a:r>
            <a:r>
              <a:rPr lang="en-IN" sz="2400" dirty="0">
                <a:latin typeface="Arial" panose="020B0604020202020204" pitchFamily="34" charset="0"/>
                <a:cs typeface="Arial" panose="020B0604020202020204" pitchFamily="34" charset="0"/>
              </a:rPr>
              <a:t>.</a:t>
            </a:r>
          </a:p>
          <a:p>
            <a:pPr algn="just">
              <a:buFont typeface="Arial" panose="020B0604020202020204" pitchFamily="34" charset="0"/>
              <a:buChar char="•"/>
            </a:pPr>
            <a:r>
              <a:rPr lang="en-IN" sz="2400" dirty="0">
                <a:latin typeface="Arial" panose="020B0604020202020204" pitchFamily="34" charset="0"/>
                <a:cs typeface="Arial" panose="020B0604020202020204" pitchFamily="34" charset="0"/>
              </a:rPr>
              <a:t>Improved resource allocation across employees and regions.</a:t>
            </a:r>
          </a:p>
          <a:p>
            <a:pPr marL="0" indent="0">
              <a:buNone/>
            </a:pPr>
            <a:endParaRPr lang="en-IN" dirty="0"/>
          </a:p>
        </p:txBody>
      </p:sp>
      <p:cxnSp>
        <p:nvCxnSpPr>
          <p:cNvPr id="4" name="Straight Connector 3">
            <a:extLst>
              <a:ext uri="{FF2B5EF4-FFF2-40B4-BE49-F238E27FC236}">
                <a16:creationId xmlns:a16="http://schemas.microsoft.com/office/drawing/2014/main" id="{E0D9AA28-566E-40D1-89D6-CB84D872B7C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E3E0D7-05C0-49E5-A0E2-46CA00311AB6}"/>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58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A588A72A-976E-478A-9DD3-765AB3ED4CD0}"/>
              </a:ext>
            </a:extLst>
          </p:cNvPr>
          <p:cNvSpPr>
            <a:spLocks noGrp="1"/>
          </p:cNvSpPr>
          <p:nvPr>
            <p:ph type="title" idx="4294967295"/>
          </p:nvPr>
        </p:nvSpPr>
        <p:spPr>
          <a:xfrm>
            <a:off x="0" y="365125"/>
            <a:ext cx="10515600" cy="1325563"/>
          </a:xfrm>
        </p:spPr>
        <p:txBody>
          <a:bodyPr/>
          <a:lstStyle/>
          <a:p>
            <a:r>
              <a:rPr lang="en-US" dirty="0"/>
              <a:t>Project analysis slide 8</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25853" y="522898"/>
            <a:ext cx="38661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8863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chemeClr val="accent3">
                    <a:lumMod val="75000"/>
                  </a:schemeClr>
                </a:solidFill>
              </a:rPr>
              <a:t>Data Dictionary</a:t>
            </a:r>
            <a:br>
              <a:rPr lang="en-US" sz="2800" dirty="0">
                <a:solidFill>
                  <a:schemeClr val="tx1">
                    <a:lumMod val="75000"/>
                    <a:lumOff val="25000"/>
                  </a:schemeClr>
                </a:solidFill>
              </a:rPr>
            </a:br>
            <a:r>
              <a:rPr lang="en-US" sz="2000" dirty="0">
                <a:solidFill>
                  <a:schemeClr val="tx1">
                    <a:lumMod val="75000"/>
                    <a:lumOff val="25000"/>
                  </a:schemeClr>
                </a:solidFill>
              </a:rPr>
              <a:t> </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83085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3C1CAF08-13B9-48BA-A271-8CE5B568A664}"/>
              </a:ext>
            </a:extLst>
          </p:cNvPr>
          <p:cNvSpPr/>
          <p:nvPr/>
        </p:nvSpPr>
        <p:spPr>
          <a:xfrm>
            <a:off x="1230086" y="825161"/>
            <a:ext cx="3433354"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TABLE</a:t>
            </a:r>
          </a:p>
        </p:txBody>
      </p:sp>
      <p:sp>
        <p:nvSpPr>
          <p:cNvPr id="26" name="Rectangle: Rounded Corners 25">
            <a:extLst>
              <a:ext uri="{FF2B5EF4-FFF2-40B4-BE49-F238E27FC236}">
                <a16:creationId xmlns:a16="http://schemas.microsoft.com/office/drawing/2014/main" id="{D1B1E083-D07C-4934-9782-F7CCA3539ACF}"/>
              </a:ext>
            </a:extLst>
          </p:cNvPr>
          <p:cNvSpPr/>
          <p:nvPr/>
        </p:nvSpPr>
        <p:spPr>
          <a:xfrm>
            <a:off x="4732137" y="825161"/>
            <a:ext cx="6404428"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DESCRIPTION</a:t>
            </a:r>
          </a:p>
        </p:txBody>
      </p:sp>
      <p:cxnSp>
        <p:nvCxnSpPr>
          <p:cNvPr id="9" name="Straight Connector 8">
            <a:extLst>
              <a:ext uri="{FF2B5EF4-FFF2-40B4-BE49-F238E27FC236}">
                <a16:creationId xmlns:a16="http://schemas.microsoft.com/office/drawing/2014/main" id="{8CBC1BB2-55FC-4E8F-A171-32FAA820D2B7}"/>
              </a:ext>
              <a:ext uri="{C183D7F6-B498-43B3-948B-1728B52AA6E4}">
                <adec:decorative xmlns:adec="http://schemas.microsoft.com/office/drawing/2017/decorative" val="1"/>
              </a:ext>
            </a:extLst>
          </p:cNvPr>
          <p:cNvCxnSpPr>
            <a:cxnSpLocks/>
          </p:cNvCxnSpPr>
          <p:nvPr/>
        </p:nvCxnSpPr>
        <p:spPr>
          <a:xfrm>
            <a:off x="1230086" y="288671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1A2EAE-EBE4-4CB7-9D0A-105837E80B0E}"/>
              </a:ext>
              <a:ext uri="{C183D7F6-B498-43B3-948B-1728B52AA6E4}">
                <adec:decorative xmlns:adec="http://schemas.microsoft.com/office/drawing/2017/decorative" val="1"/>
              </a:ext>
            </a:extLst>
          </p:cNvPr>
          <p:cNvCxnSpPr>
            <a:cxnSpLocks/>
          </p:cNvCxnSpPr>
          <p:nvPr/>
        </p:nvCxnSpPr>
        <p:spPr>
          <a:xfrm>
            <a:off x="4712794" y="1701104"/>
            <a:ext cx="0" cy="47846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B8D04C5-42CB-4F41-8505-8508CFF0032E}"/>
              </a:ext>
              <a:ext uri="{C183D7F6-B498-43B3-948B-1728B52AA6E4}">
                <adec:decorative xmlns:adec="http://schemas.microsoft.com/office/drawing/2017/decorative" val="1"/>
              </a:ext>
            </a:extLst>
          </p:cNvPr>
          <p:cNvCxnSpPr>
            <a:cxnSpLocks/>
          </p:cNvCxnSpPr>
          <p:nvPr/>
        </p:nvCxnSpPr>
        <p:spPr>
          <a:xfrm>
            <a:off x="1241223" y="363855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3264622-2190-440D-A842-89988027C076}"/>
              </a:ext>
              <a:ext uri="{C183D7F6-B498-43B3-948B-1728B52AA6E4}">
                <adec:decorative xmlns:adec="http://schemas.microsoft.com/office/drawing/2017/decorative" val="1"/>
              </a:ext>
            </a:extLst>
          </p:cNvPr>
          <p:cNvCxnSpPr>
            <a:cxnSpLocks/>
          </p:cNvCxnSpPr>
          <p:nvPr/>
        </p:nvCxnSpPr>
        <p:spPr>
          <a:xfrm>
            <a:off x="1241223" y="441071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B4FC7EF-DCD0-4B35-BF8A-DACB5F0E1987}"/>
              </a:ext>
              <a:ext uri="{C183D7F6-B498-43B3-948B-1728B52AA6E4}">
                <adec:decorative xmlns:adec="http://schemas.microsoft.com/office/drawing/2017/decorative" val="1"/>
              </a:ext>
            </a:extLst>
          </p:cNvPr>
          <p:cNvCxnSpPr>
            <a:cxnSpLocks/>
          </p:cNvCxnSpPr>
          <p:nvPr/>
        </p:nvCxnSpPr>
        <p:spPr>
          <a:xfrm>
            <a:off x="1228013" y="5105334"/>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FB04B7-6507-4769-A43E-E897BD99ACEC}"/>
              </a:ext>
              <a:ext uri="{C183D7F6-B498-43B3-948B-1728B52AA6E4}">
                <adec:decorative xmlns:adec="http://schemas.microsoft.com/office/drawing/2017/decorative" val="1"/>
              </a:ext>
            </a:extLst>
          </p:cNvPr>
          <p:cNvCxnSpPr>
            <a:cxnSpLocks/>
          </p:cNvCxnSpPr>
          <p:nvPr/>
        </p:nvCxnSpPr>
        <p:spPr>
          <a:xfrm>
            <a:off x="1241223" y="215519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F7843A2-8A19-411B-94BA-9BFAA94183A8}"/>
              </a:ext>
              <a:ext uri="{C183D7F6-B498-43B3-948B-1728B52AA6E4}">
                <adec:decorative xmlns:adec="http://schemas.microsoft.com/office/drawing/2017/decorative" val="1"/>
              </a:ext>
            </a:extLst>
          </p:cNvPr>
          <p:cNvCxnSpPr>
            <a:cxnSpLocks/>
          </p:cNvCxnSpPr>
          <p:nvPr/>
        </p:nvCxnSpPr>
        <p:spPr>
          <a:xfrm>
            <a:off x="1230086" y="5799342"/>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C794724-C258-4D58-947C-C835A7EC0B5D}"/>
              </a:ext>
              <a:ext uri="{C183D7F6-B498-43B3-948B-1728B52AA6E4}">
                <adec:decorative xmlns:adec="http://schemas.microsoft.com/office/drawing/2017/decorative" val="1"/>
              </a:ext>
            </a:extLst>
          </p:cNvPr>
          <p:cNvCxnSpPr>
            <a:cxnSpLocks/>
          </p:cNvCxnSpPr>
          <p:nvPr/>
        </p:nvCxnSpPr>
        <p:spPr>
          <a:xfrm>
            <a:off x="1242926" y="1701104"/>
            <a:ext cx="0" cy="47846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0360242-1E67-4284-A6E8-81D744807FAB}"/>
              </a:ext>
              <a:ext uri="{C183D7F6-B498-43B3-948B-1728B52AA6E4}">
                <adec:decorative xmlns:adec="http://schemas.microsoft.com/office/drawing/2017/decorative" val="1"/>
              </a:ext>
            </a:extLst>
          </p:cNvPr>
          <p:cNvCxnSpPr>
            <a:cxnSpLocks/>
          </p:cNvCxnSpPr>
          <p:nvPr/>
        </p:nvCxnSpPr>
        <p:spPr>
          <a:xfrm>
            <a:off x="11136565" y="1701104"/>
            <a:ext cx="0" cy="47846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18F2979-4A25-4A33-B63B-A11ACF88F6C0}"/>
              </a:ext>
            </a:extLst>
          </p:cNvPr>
          <p:cNvSpPr txBox="1"/>
          <p:nvPr/>
        </p:nvSpPr>
        <p:spPr>
          <a:xfrm>
            <a:off x="2520660" y="1711048"/>
            <a:ext cx="914400" cy="369332"/>
          </a:xfrm>
          <a:prstGeom prst="rect">
            <a:avLst/>
          </a:prstGeom>
          <a:noFill/>
        </p:spPr>
        <p:txBody>
          <a:bodyPr wrap="square" rtlCol="0">
            <a:spAutoFit/>
          </a:bodyPr>
          <a:lstStyle/>
          <a:p>
            <a:r>
              <a:rPr lang="en-IN" b="1" dirty="0"/>
              <a:t>Orders</a:t>
            </a:r>
          </a:p>
        </p:txBody>
      </p:sp>
      <p:sp>
        <p:nvSpPr>
          <p:cNvPr id="34" name="TextBox 33">
            <a:extLst>
              <a:ext uri="{FF2B5EF4-FFF2-40B4-BE49-F238E27FC236}">
                <a16:creationId xmlns:a16="http://schemas.microsoft.com/office/drawing/2014/main" id="{3988CB71-449C-4A3F-B0C4-8A5CDCD42D68}"/>
              </a:ext>
            </a:extLst>
          </p:cNvPr>
          <p:cNvSpPr txBox="1"/>
          <p:nvPr/>
        </p:nvSpPr>
        <p:spPr>
          <a:xfrm>
            <a:off x="2416475" y="3082029"/>
            <a:ext cx="1122770" cy="369332"/>
          </a:xfrm>
          <a:prstGeom prst="rect">
            <a:avLst/>
          </a:prstGeom>
          <a:noFill/>
        </p:spPr>
        <p:txBody>
          <a:bodyPr wrap="square" rtlCol="0">
            <a:spAutoFit/>
          </a:bodyPr>
          <a:lstStyle/>
          <a:p>
            <a:r>
              <a:rPr lang="en-IN" b="1" dirty="0"/>
              <a:t>Products</a:t>
            </a:r>
          </a:p>
        </p:txBody>
      </p:sp>
      <p:sp>
        <p:nvSpPr>
          <p:cNvPr id="35" name="TextBox 34">
            <a:extLst>
              <a:ext uri="{FF2B5EF4-FFF2-40B4-BE49-F238E27FC236}">
                <a16:creationId xmlns:a16="http://schemas.microsoft.com/office/drawing/2014/main" id="{0D3A5135-AF0D-4B51-A8B1-125BFFFC59B7}"/>
              </a:ext>
            </a:extLst>
          </p:cNvPr>
          <p:cNvSpPr txBox="1"/>
          <p:nvPr/>
        </p:nvSpPr>
        <p:spPr>
          <a:xfrm>
            <a:off x="2219483" y="2371893"/>
            <a:ext cx="1854444" cy="369332"/>
          </a:xfrm>
          <a:prstGeom prst="rect">
            <a:avLst/>
          </a:prstGeom>
          <a:noFill/>
        </p:spPr>
        <p:txBody>
          <a:bodyPr wrap="square" rtlCol="0">
            <a:spAutoFit/>
          </a:bodyPr>
          <a:lstStyle/>
          <a:p>
            <a:r>
              <a:rPr lang="en-IN" b="1" dirty="0"/>
              <a:t>Orders Details</a:t>
            </a:r>
          </a:p>
        </p:txBody>
      </p:sp>
      <p:sp>
        <p:nvSpPr>
          <p:cNvPr id="36" name="TextBox 35">
            <a:extLst>
              <a:ext uri="{FF2B5EF4-FFF2-40B4-BE49-F238E27FC236}">
                <a16:creationId xmlns:a16="http://schemas.microsoft.com/office/drawing/2014/main" id="{00E331C8-2360-42AD-B771-7896A0E7B7E5}"/>
              </a:ext>
            </a:extLst>
          </p:cNvPr>
          <p:cNvSpPr txBox="1"/>
          <p:nvPr/>
        </p:nvSpPr>
        <p:spPr>
          <a:xfrm>
            <a:off x="2336090" y="3809557"/>
            <a:ext cx="1283540" cy="369332"/>
          </a:xfrm>
          <a:prstGeom prst="rect">
            <a:avLst/>
          </a:prstGeom>
          <a:noFill/>
        </p:spPr>
        <p:txBody>
          <a:bodyPr wrap="square" rtlCol="0">
            <a:spAutoFit/>
          </a:bodyPr>
          <a:lstStyle/>
          <a:p>
            <a:r>
              <a:rPr lang="en-IN" b="1" dirty="0"/>
              <a:t>Categories</a:t>
            </a:r>
          </a:p>
        </p:txBody>
      </p:sp>
      <p:sp>
        <p:nvSpPr>
          <p:cNvPr id="37" name="TextBox 36">
            <a:extLst>
              <a:ext uri="{FF2B5EF4-FFF2-40B4-BE49-F238E27FC236}">
                <a16:creationId xmlns:a16="http://schemas.microsoft.com/office/drawing/2014/main" id="{A32A515F-E5A5-427E-8288-DE1F8D285CA3}"/>
              </a:ext>
            </a:extLst>
          </p:cNvPr>
          <p:cNvSpPr txBox="1"/>
          <p:nvPr/>
        </p:nvSpPr>
        <p:spPr>
          <a:xfrm>
            <a:off x="2364966" y="4569773"/>
            <a:ext cx="1225789" cy="369332"/>
          </a:xfrm>
          <a:prstGeom prst="rect">
            <a:avLst/>
          </a:prstGeom>
          <a:noFill/>
        </p:spPr>
        <p:txBody>
          <a:bodyPr wrap="square" rtlCol="0">
            <a:spAutoFit/>
          </a:bodyPr>
          <a:lstStyle/>
          <a:p>
            <a:r>
              <a:rPr lang="en-IN" b="1" dirty="0"/>
              <a:t>Customers</a:t>
            </a:r>
          </a:p>
        </p:txBody>
      </p:sp>
      <p:sp>
        <p:nvSpPr>
          <p:cNvPr id="39" name="TextBox 38">
            <a:extLst>
              <a:ext uri="{FF2B5EF4-FFF2-40B4-BE49-F238E27FC236}">
                <a16:creationId xmlns:a16="http://schemas.microsoft.com/office/drawing/2014/main" id="{09178FF0-77C3-41DA-9122-84FFC94512DF}"/>
              </a:ext>
            </a:extLst>
          </p:cNvPr>
          <p:cNvSpPr txBox="1"/>
          <p:nvPr/>
        </p:nvSpPr>
        <p:spPr>
          <a:xfrm>
            <a:off x="2341974" y="5263583"/>
            <a:ext cx="1216159" cy="369332"/>
          </a:xfrm>
          <a:prstGeom prst="rect">
            <a:avLst/>
          </a:prstGeom>
          <a:noFill/>
        </p:spPr>
        <p:txBody>
          <a:bodyPr wrap="square" rtlCol="0">
            <a:spAutoFit/>
          </a:bodyPr>
          <a:lstStyle/>
          <a:p>
            <a:r>
              <a:rPr lang="en-IN" b="1" dirty="0"/>
              <a:t>Employees</a:t>
            </a:r>
          </a:p>
        </p:txBody>
      </p:sp>
      <p:sp>
        <p:nvSpPr>
          <p:cNvPr id="47" name="TextBox 46">
            <a:extLst>
              <a:ext uri="{FF2B5EF4-FFF2-40B4-BE49-F238E27FC236}">
                <a16:creationId xmlns:a16="http://schemas.microsoft.com/office/drawing/2014/main" id="{C0022BB5-6A9E-47E8-9609-A0C405C2A763}"/>
              </a:ext>
            </a:extLst>
          </p:cNvPr>
          <p:cNvSpPr txBox="1"/>
          <p:nvPr/>
        </p:nvSpPr>
        <p:spPr>
          <a:xfrm>
            <a:off x="2425866" y="5965770"/>
            <a:ext cx="1139732" cy="369332"/>
          </a:xfrm>
          <a:prstGeom prst="rect">
            <a:avLst/>
          </a:prstGeom>
          <a:noFill/>
        </p:spPr>
        <p:txBody>
          <a:bodyPr wrap="square" rtlCol="0">
            <a:spAutoFit/>
          </a:bodyPr>
          <a:lstStyle/>
          <a:p>
            <a:r>
              <a:rPr lang="en-IN" b="1" dirty="0"/>
              <a:t>Suppliers</a:t>
            </a:r>
          </a:p>
        </p:txBody>
      </p:sp>
      <p:cxnSp>
        <p:nvCxnSpPr>
          <p:cNvPr id="48" name="Straight Connector 47">
            <a:extLst>
              <a:ext uri="{FF2B5EF4-FFF2-40B4-BE49-F238E27FC236}">
                <a16:creationId xmlns:a16="http://schemas.microsoft.com/office/drawing/2014/main" id="{51819ECE-6910-48F2-8592-48246E93E138}"/>
              </a:ext>
              <a:ext uri="{C183D7F6-B498-43B3-948B-1728B52AA6E4}">
                <adec:decorative xmlns:adec="http://schemas.microsoft.com/office/drawing/2017/decorative" val="1"/>
              </a:ext>
            </a:extLst>
          </p:cNvPr>
          <p:cNvCxnSpPr>
            <a:cxnSpLocks/>
          </p:cNvCxnSpPr>
          <p:nvPr/>
        </p:nvCxnSpPr>
        <p:spPr>
          <a:xfrm>
            <a:off x="1228013" y="6485861"/>
            <a:ext cx="989534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1E58C96A-6373-40FC-B38E-C0E8F795C22D}"/>
              </a:ext>
            </a:extLst>
          </p:cNvPr>
          <p:cNvSpPr txBox="1"/>
          <p:nvPr/>
        </p:nvSpPr>
        <p:spPr>
          <a:xfrm>
            <a:off x="5325815" y="1711048"/>
            <a:ext cx="5178389" cy="369331"/>
          </a:xfrm>
          <a:prstGeom prst="rect">
            <a:avLst/>
          </a:prstGeom>
          <a:noFill/>
        </p:spPr>
        <p:txBody>
          <a:bodyPr wrap="square" rtlCol="0">
            <a:spAutoFit/>
          </a:bodyPr>
          <a:lstStyle/>
          <a:p>
            <a:r>
              <a:rPr lang="en-IN" b="1" dirty="0"/>
              <a:t>Customer orders, dates, shipping destinations</a:t>
            </a:r>
          </a:p>
        </p:txBody>
      </p:sp>
      <p:sp>
        <p:nvSpPr>
          <p:cNvPr id="51" name="TextBox 50">
            <a:extLst>
              <a:ext uri="{FF2B5EF4-FFF2-40B4-BE49-F238E27FC236}">
                <a16:creationId xmlns:a16="http://schemas.microsoft.com/office/drawing/2014/main" id="{A16B3AC1-E3C0-41E1-AE06-52A72A238A10}"/>
              </a:ext>
            </a:extLst>
          </p:cNvPr>
          <p:cNvSpPr txBox="1"/>
          <p:nvPr/>
        </p:nvSpPr>
        <p:spPr>
          <a:xfrm>
            <a:off x="5345156" y="2346375"/>
            <a:ext cx="5178389" cy="369331"/>
          </a:xfrm>
          <a:prstGeom prst="rect">
            <a:avLst/>
          </a:prstGeom>
          <a:noFill/>
        </p:spPr>
        <p:txBody>
          <a:bodyPr wrap="square" rtlCol="0">
            <a:spAutoFit/>
          </a:bodyPr>
          <a:lstStyle/>
          <a:p>
            <a:r>
              <a:rPr lang="en-IN" b="1" dirty="0"/>
              <a:t>Per-product order quantity, unit price, discounts</a:t>
            </a:r>
          </a:p>
        </p:txBody>
      </p:sp>
      <p:sp>
        <p:nvSpPr>
          <p:cNvPr id="52" name="TextBox 51">
            <a:extLst>
              <a:ext uri="{FF2B5EF4-FFF2-40B4-BE49-F238E27FC236}">
                <a16:creationId xmlns:a16="http://schemas.microsoft.com/office/drawing/2014/main" id="{188DFF6F-3984-480C-8BE5-0D4D2FEDF220}"/>
              </a:ext>
            </a:extLst>
          </p:cNvPr>
          <p:cNvSpPr txBox="1"/>
          <p:nvPr/>
        </p:nvSpPr>
        <p:spPr>
          <a:xfrm>
            <a:off x="5335485" y="3126233"/>
            <a:ext cx="5178389" cy="369331"/>
          </a:xfrm>
          <a:prstGeom prst="rect">
            <a:avLst/>
          </a:prstGeom>
          <a:noFill/>
        </p:spPr>
        <p:txBody>
          <a:bodyPr wrap="square" rtlCol="0">
            <a:spAutoFit/>
          </a:bodyPr>
          <a:lstStyle/>
          <a:p>
            <a:r>
              <a:rPr lang="en-IN" b="1" dirty="0"/>
              <a:t>Product name, unit price, and category</a:t>
            </a:r>
          </a:p>
        </p:txBody>
      </p:sp>
      <p:sp>
        <p:nvSpPr>
          <p:cNvPr id="53" name="TextBox 52">
            <a:extLst>
              <a:ext uri="{FF2B5EF4-FFF2-40B4-BE49-F238E27FC236}">
                <a16:creationId xmlns:a16="http://schemas.microsoft.com/office/drawing/2014/main" id="{77AC007A-7493-4FB6-80CC-088F6E5B7CF9}"/>
              </a:ext>
            </a:extLst>
          </p:cNvPr>
          <p:cNvSpPr txBox="1"/>
          <p:nvPr/>
        </p:nvSpPr>
        <p:spPr>
          <a:xfrm>
            <a:off x="5328880" y="3841168"/>
            <a:ext cx="5178389" cy="369331"/>
          </a:xfrm>
          <a:prstGeom prst="rect">
            <a:avLst/>
          </a:prstGeom>
          <a:noFill/>
        </p:spPr>
        <p:txBody>
          <a:bodyPr wrap="square" rtlCol="0">
            <a:spAutoFit/>
          </a:bodyPr>
          <a:lstStyle/>
          <a:p>
            <a:r>
              <a:rPr lang="en-IN" b="1" dirty="0"/>
              <a:t>Category ID and category description</a:t>
            </a:r>
          </a:p>
        </p:txBody>
      </p:sp>
      <p:sp>
        <p:nvSpPr>
          <p:cNvPr id="54" name="TextBox 53">
            <a:extLst>
              <a:ext uri="{FF2B5EF4-FFF2-40B4-BE49-F238E27FC236}">
                <a16:creationId xmlns:a16="http://schemas.microsoft.com/office/drawing/2014/main" id="{8147E8F6-FF66-43E3-9516-BC4E0E1BDA8E}"/>
              </a:ext>
            </a:extLst>
          </p:cNvPr>
          <p:cNvSpPr txBox="1"/>
          <p:nvPr/>
        </p:nvSpPr>
        <p:spPr>
          <a:xfrm>
            <a:off x="5351662" y="4607025"/>
            <a:ext cx="5178389" cy="369331"/>
          </a:xfrm>
          <a:prstGeom prst="rect">
            <a:avLst/>
          </a:prstGeom>
          <a:noFill/>
        </p:spPr>
        <p:txBody>
          <a:bodyPr wrap="square" rtlCol="0">
            <a:spAutoFit/>
          </a:bodyPr>
          <a:lstStyle/>
          <a:p>
            <a:r>
              <a:rPr lang="en-IN" b="1" dirty="0"/>
              <a:t>Customer contact details and country</a:t>
            </a:r>
          </a:p>
        </p:txBody>
      </p:sp>
      <p:sp>
        <p:nvSpPr>
          <p:cNvPr id="55" name="TextBox 54">
            <a:extLst>
              <a:ext uri="{FF2B5EF4-FFF2-40B4-BE49-F238E27FC236}">
                <a16:creationId xmlns:a16="http://schemas.microsoft.com/office/drawing/2014/main" id="{65FD8BDD-4274-477B-9BA2-91218F2CC0BD}"/>
              </a:ext>
            </a:extLst>
          </p:cNvPr>
          <p:cNvSpPr txBox="1"/>
          <p:nvPr/>
        </p:nvSpPr>
        <p:spPr>
          <a:xfrm>
            <a:off x="5328880" y="5271418"/>
            <a:ext cx="5178389" cy="369331"/>
          </a:xfrm>
          <a:prstGeom prst="rect">
            <a:avLst/>
          </a:prstGeom>
          <a:noFill/>
        </p:spPr>
        <p:txBody>
          <a:bodyPr wrap="square" rtlCol="0">
            <a:spAutoFit/>
          </a:bodyPr>
          <a:lstStyle/>
          <a:p>
            <a:r>
              <a:rPr lang="en-IN" b="1" dirty="0"/>
              <a:t>Employee title, region, hire dates</a:t>
            </a:r>
          </a:p>
        </p:txBody>
      </p:sp>
      <p:sp>
        <p:nvSpPr>
          <p:cNvPr id="56" name="TextBox 55">
            <a:extLst>
              <a:ext uri="{FF2B5EF4-FFF2-40B4-BE49-F238E27FC236}">
                <a16:creationId xmlns:a16="http://schemas.microsoft.com/office/drawing/2014/main" id="{3ECE358B-B170-4598-A115-C86306ADF133}"/>
              </a:ext>
            </a:extLst>
          </p:cNvPr>
          <p:cNvSpPr txBox="1"/>
          <p:nvPr/>
        </p:nvSpPr>
        <p:spPr>
          <a:xfrm>
            <a:off x="5351662" y="5965770"/>
            <a:ext cx="5178389" cy="369331"/>
          </a:xfrm>
          <a:prstGeom prst="rect">
            <a:avLst/>
          </a:prstGeom>
          <a:noFill/>
        </p:spPr>
        <p:txBody>
          <a:bodyPr wrap="square" rtlCol="0">
            <a:spAutoFit/>
          </a:bodyPr>
          <a:lstStyle/>
          <a:p>
            <a:endParaRPr lang="en-IN" b="1" dirty="0"/>
          </a:p>
        </p:txBody>
      </p:sp>
      <p:graphicFrame>
        <p:nvGraphicFramePr>
          <p:cNvPr id="17" name="Table 16">
            <a:extLst>
              <a:ext uri="{FF2B5EF4-FFF2-40B4-BE49-F238E27FC236}">
                <a16:creationId xmlns:a16="http://schemas.microsoft.com/office/drawing/2014/main" id="{BA2A0C3F-3237-41A5-AEA6-905BDFABE97C}"/>
              </a:ext>
            </a:extLst>
          </p:cNvPr>
          <p:cNvGraphicFramePr>
            <a:graphicFrameLocks noGrp="1"/>
          </p:cNvGraphicFramePr>
          <p:nvPr>
            <p:extLst>
              <p:ext uri="{D42A27DB-BD31-4B8C-83A1-F6EECF244321}">
                <p14:modId xmlns:p14="http://schemas.microsoft.com/office/powerpoint/2010/main" val="1374147577"/>
              </p:ext>
            </p:extLst>
          </p:nvPr>
        </p:nvGraphicFramePr>
        <p:xfrm>
          <a:off x="5351663" y="3831294"/>
          <a:ext cx="5007544" cy="365760"/>
        </p:xfrm>
        <a:graphic>
          <a:graphicData uri="http://schemas.openxmlformats.org/drawingml/2006/table">
            <a:tbl>
              <a:tblPr/>
              <a:tblGrid>
                <a:gridCol w="5007544">
                  <a:extLst>
                    <a:ext uri="{9D8B030D-6E8A-4147-A177-3AD203B41FA5}">
                      <a16:colId xmlns:a16="http://schemas.microsoft.com/office/drawing/2014/main" val="1265448366"/>
                    </a:ext>
                  </a:extLst>
                </a:gridCol>
              </a:tblGrid>
              <a:tr h="0">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3971923422"/>
                  </a:ext>
                </a:extLst>
              </a:tr>
            </a:tbl>
          </a:graphicData>
        </a:graphic>
      </p:graphicFrame>
      <p:graphicFrame>
        <p:nvGraphicFramePr>
          <p:cNvPr id="18" name="Table 17">
            <a:extLst>
              <a:ext uri="{FF2B5EF4-FFF2-40B4-BE49-F238E27FC236}">
                <a16:creationId xmlns:a16="http://schemas.microsoft.com/office/drawing/2014/main" id="{EC8AAA17-E1A1-46B5-967E-4A9B2E8458D0}"/>
              </a:ext>
            </a:extLst>
          </p:cNvPr>
          <p:cNvGraphicFramePr>
            <a:graphicFrameLocks noGrp="1"/>
          </p:cNvGraphicFramePr>
          <p:nvPr>
            <p:extLst>
              <p:ext uri="{D42A27DB-BD31-4B8C-83A1-F6EECF244321}">
                <p14:modId xmlns:p14="http://schemas.microsoft.com/office/powerpoint/2010/main" val="431612993"/>
              </p:ext>
            </p:extLst>
          </p:nvPr>
        </p:nvGraphicFramePr>
        <p:xfrm>
          <a:off x="5351662" y="5880580"/>
          <a:ext cx="5007544" cy="365760"/>
        </p:xfrm>
        <a:graphic>
          <a:graphicData uri="http://schemas.openxmlformats.org/drawingml/2006/table">
            <a:tbl>
              <a:tblPr/>
              <a:tblGrid>
                <a:gridCol w="5007544">
                  <a:extLst>
                    <a:ext uri="{9D8B030D-6E8A-4147-A177-3AD203B41FA5}">
                      <a16:colId xmlns:a16="http://schemas.microsoft.com/office/drawing/2014/main" val="1363897062"/>
                    </a:ext>
                  </a:extLst>
                </a:gridCol>
              </a:tblGrid>
              <a:tr h="0">
                <a:tc>
                  <a:txBody>
                    <a:bodyPr/>
                    <a:lstStyle/>
                    <a:p>
                      <a:r>
                        <a:rPr lang="en-IN" b="1" dirty="0"/>
                        <a:t>Supplier details by region and product</a:t>
                      </a:r>
                    </a:p>
                  </a:txBody>
                  <a:tcPr anchor="ctr">
                    <a:lnL>
                      <a:noFill/>
                    </a:lnL>
                    <a:lnR>
                      <a:noFill/>
                    </a:lnR>
                    <a:lnT>
                      <a:noFill/>
                    </a:lnT>
                    <a:lnB>
                      <a:noFill/>
                    </a:lnB>
                  </a:tcPr>
                </a:tc>
                <a:extLst>
                  <a:ext uri="{0D108BD9-81ED-4DB2-BD59-A6C34878D82A}">
                    <a16:rowId xmlns:a16="http://schemas.microsoft.com/office/drawing/2014/main" val="2098683437"/>
                  </a:ext>
                </a:extLst>
              </a:tr>
            </a:tbl>
          </a:graphicData>
        </a:graphic>
      </p:graphicFrame>
    </p:spTree>
    <p:extLst>
      <p:ext uri="{BB962C8B-B14F-4D97-AF65-F5344CB8AC3E}">
        <p14:creationId xmlns:p14="http://schemas.microsoft.com/office/powerpoint/2010/main" val="72736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E7CC-9C22-4849-BB5B-083FCB40BE44}"/>
              </a:ext>
            </a:extLst>
          </p:cNvPr>
          <p:cNvSpPr>
            <a:spLocks noGrp="1"/>
          </p:cNvSpPr>
          <p:nvPr>
            <p:ph type="title"/>
          </p:nvPr>
        </p:nvSpPr>
        <p:spPr>
          <a:xfrm>
            <a:off x="4148689" y="-118147"/>
            <a:ext cx="3894621" cy="1325563"/>
          </a:xfrm>
        </p:spPr>
        <p:txBody>
          <a:bodyPr>
            <a:normAutofit/>
          </a:bodyPr>
          <a:lstStyle/>
          <a:p>
            <a:pPr algn="ctr"/>
            <a:r>
              <a:rPr lang="en-IN" b="1" dirty="0">
                <a:solidFill>
                  <a:schemeClr val="accent3">
                    <a:lumMod val="75000"/>
                  </a:schemeClr>
                </a:solidFill>
              </a:rPr>
              <a:t>ER Diagram </a:t>
            </a:r>
          </a:p>
        </p:txBody>
      </p:sp>
      <p:cxnSp>
        <p:nvCxnSpPr>
          <p:cNvPr id="4" name="Straight Connector 3">
            <a:extLst>
              <a:ext uri="{FF2B5EF4-FFF2-40B4-BE49-F238E27FC236}">
                <a16:creationId xmlns:a16="http://schemas.microsoft.com/office/drawing/2014/main" id="{E0D9AA28-566E-40D1-89D6-CB84D872B7C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E3E0D7-05C0-49E5-A0E2-46CA00311AB6}"/>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CA9884B-1509-4FF4-A59D-7AF5000D8387}"/>
              </a:ext>
            </a:extLst>
          </p:cNvPr>
          <p:cNvPicPr>
            <a:picLocks noChangeAspect="1"/>
          </p:cNvPicPr>
          <p:nvPr/>
        </p:nvPicPr>
        <p:blipFill>
          <a:blip r:embed="rId2"/>
          <a:stretch>
            <a:fillRect/>
          </a:stretch>
        </p:blipFill>
        <p:spPr>
          <a:xfrm>
            <a:off x="635267" y="886112"/>
            <a:ext cx="11171722" cy="5736189"/>
          </a:xfrm>
          <a:prstGeom prst="rect">
            <a:avLst/>
          </a:prstGeom>
        </p:spPr>
      </p:pic>
    </p:spTree>
    <p:extLst>
      <p:ext uri="{BB962C8B-B14F-4D97-AF65-F5344CB8AC3E}">
        <p14:creationId xmlns:p14="http://schemas.microsoft.com/office/powerpoint/2010/main" val="784491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6E7CC-9C22-4849-BB5B-083FCB40BE44}"/>
              </a:ext>
            </a:extLst>
          </p:cNvPr>
          <p:cNvSpPr>
            <a:spLocks noGrp="1"/>
          </p:cNvSpPr>
          <p:nvPr>
            <p:ph type="title"/>
          </p:nvPr>
        </p:nvSpPr>
        <p:spPr>
          <a:xfrm>
            <a:off x="4148689" y="38050"/>
            <a:ext cx="3894621" cy="1325563"/>
          </a:xfrm>
        </p:spPr>
        <p:txBody>
          <a:bodyPr>
            <a:normAutofit fontScale="90000"/>
          </a:bodyPr>
          <a:lstStyle/>
          <a:p>
            <a:pPr algn="ctr"/>
            <a:r>
              <a:rPr lang="en-IN" b="1" dirty="0">
                <a:solidFill>
                  <a:schemeClr val="accent3">
                    <a:lumMod val="75000"/>
                  </a:schemeClr>
                </a:solidFill>
              </a:rPr>
              <a:t>Steps Followed in Project </a:t>
            </a:r>
          </a:p>
        </p:txBody>
      </p:sp>
      <p:sp>
        <p:nvSpPr>
          <p:cNvPr id="3" name="Content Placeholder 2">
            <a:extLst>
              <a:ext uri="{FF2B5EF4-FFF2-40B4-BE49-F238E27FC236}">
                <a16:creationId xmlns:a16="http://schemas.microsoft.com/office/drawing/2014/main" id="{0BD22A85-95B5-46D0-940E-243BB71B72A8}"/>
              </a:ext>
            </a:extLst>
          </p:cNvPr>
          <p:cNvSpPr>
            <a:spLocks noGrp="1"/>
          </p:cNvSpPr>
          <p:nvPr>
            <p:ph idx="1"/>
          </p:nvPr>
        </p:nvSpPr>
        <p:spPr>
          <a:xfrm>
            <a:off x="905577" y="1814931"/>
            <a:ext cx="10515600" cy="3797666"/>
          </a:xfrm>
        </p:spPr>
        <p:txBody>
          <a:bodyPr>
            <a:normAutofit fontScale="92500" lnSpcReduction="10000"/>
          </a:bodyPr>
          <a:lstStyle/>
          <a:p>
            <a:pPr algn="just">
              <a:buFont typeface="+mj-lt"/>
              <a:buAutoNum type="arabicPeriod"/>
            </a:pPr>
            <a:r>
              <a:rPr lang="en-IN" sz="2600" dirty="0">
                <a:latin typeface="Arial" panose="020B0604020202020204" pitchFamily="34" charset="0"/>
                <a:cs typeface="Arial" panose="020B0604020202020204" pitchFamily="34" charset="0"/>
              </a:rPr>
              <a:t>Imported all datasets into Excel and Power BI.</a:t>
            </a:r>
          </a:p>
          <a:p>
            <a:pPr algn="just">
              <a:buFont typeface="+mj-lt"/>
              <a:buAutoNum type="arabicPeriod"/>
            </a:pPr>
            <a:r>
              <a:rPr lang="en-IN" sz="2600" dirty="0">
                <a:latin typeface="Arial" panose="020B0604020202020204" pitchFamily="34" charset="0"/>
                <a:cs typeface="Arial" panose="020B0604020202020204" pitchFamily="34" charset="0"/>
              </a:rPr>
              <a:t>Performed </a:t>
            </a:r>
            <a:r>
              <a:rPr lang="en-IN" sz="2600" b="1" dirty="0">
                <a:latin typeface="Arial" panose="020B0604020202020204" pitchFamily="34" charset="0"/>
                <a:cs typeface="Arial" panose="020B0604020202020204" pitchFamily="34" charset="0"/>
              </a:rPr>
              <a:t>data cleaning</a:t>
            </a:r>
            <a:r>
              <a:rPr lang="en-IN" sz="2600" dirty="0">
                <a:latin typeface="Arial" panose="020B0604020202020204" pitchFamily="34" charset="0"/>
                <a:cs typeface="Arial" panose="020B0604020202020204" pitchFamily="34" charset="0"/>
              </a:rPr>
              <a:t> — removing nulls, duplicates, format corrections.</a:t>
            </a:r>
          </a:p>
          <a:p>
            <a:pPr algn="just">
              <a:buFont typeface="+mj-lt"/>
              <a:buAutoNum type="arabicPeriod"/>
            </a:pPr>
            <a:r>
              <a:rPr lang="en-IN" sz="2600" dirty="0">
                <a:latin typeface="Arial" panose="020B0604020202020204" pitchFamily="34" charset="0"/>
                <a:cs typeface="Arial" panose="020B0604020202020204" pitchFamily="34" charset="0"/>
              </a:rPr>
              <a:t>Created </a:t>
            </a:r>
            <a:r>
              <a:rPr lang="en-IN" sz="2600" b="1" dirty="0">
                <a:latin typeface="Arial" panose="020B0604020202020204" pitchFamily="34" charset="0"/>
                <a:cs typeface="Arial" panose="020B0604020202020204" pitchFamily="34" charset="0"/>
              </a:rPr>
              <a:t>relationships</a:t>
            </a:r>
            <a:r>
              <a:rPr lang="en-IN" sz="2600" dirty="0">
                <a:latin typeface="Arial" panose="020B0604020202020204" pitchFamily="34" charset="0"/>
                <a:cs typeface="Arial" panose="020B0604020202020204" pitchFamily="34" charset="0"/>
              </a:rPr>
              <a:t> between tables using primary–foreign keys.</a:t>
            </a:r>
          </a:p>
          <a:p>
            <a:pPr algn="just">
              <a:buFont typeface="+mj-lt"/>
              <a:buAutoNum type="arabicPeriod"/>
            </a:pPr>
            <a:r>
              <a:rPr lang="en-IN" sz="2600" dirty="0">
                <a:latin typeface="Arial" panose="020B0604020202020204" pitchFamily="34" charset="0"/>
                <a:cs typeface="Arial" panose="020B0604020202020204" pitchFamily="34" charset="0"/>
              </a:rPr>
              <a:t>Conducted </a:t>
            </a:r>
            <a:r>
              <a:rPr lang="en-IN" sz="2600" b="1" dirty="0">
                <a:latin typeface="Arial" panose="020B0604020202020204" pitchFamily="34" charset="0"/>
                <a:cs typeface="Arial" panose="020B0604020202020204" pitchFamily="34" charset="0"/>
              </a:rPr>
              <a:t>Exploratory Data Analysis (EDA)</a:t>
            </a:r>
            <a:r>
              <a:rPr lang="en-IN" sz="2600" dirty="0">
                <a:latin typeface="Arial" panose="020B0604020202020204" pitchFamily="34" charset="0"/>
                <a:cs typeface="Arial" panose="020B0604020202020204" pitchFamily="34" charset="0"/>
              </a:rPr>
              <a:t> with pivot tables, formulas, correlations.</a:t>
            </a:r>
          </a:p>
          <a:p>
            <a:pPr algn="just">
              <a:buFont typeface="+mj-lt"/>
              <a:buAutoNum type="arabicPeriod"/>
            </a:pPr>
            <a:r>
              <a:rPr lang="en-IN" sz="2600" dirty="0">
                <a:latin typeface="Arial" panose="020B0604020202020204" pitchFamily="34" charset="0"/>
                <a:cs typeface="Arial" panose="020B0604020202020204" pitchFamily="34" charset="0"/>
              </a:rPr>
              <a:t>Built </a:t>
            </a:r>
            <a:r>
              <a:rPr lang="en-IN" sz="2600" b="1" dirty="0">
                <a:latin typeface="Arial" panose="020B0604020202020204" pitchFamily="34" charset="0"/>
                <a:cs typeface="Arial" panose="020B0604020202020204" pitchFamily="34" charset="0"/>
              </a:rPr>
              <a:t>visual dashboards</a:t>
            </a:r>
            <a:r>
              <a:rPr lang="en-IN" sz="2600" dirty="0">
                <a:latin typeface="Arial" panose="020B0604020202020204" pitchFamily="34" charset="0"/>
                <a:cs typeface="Arial" panose="020B0604020202020204" pitchFamily="34" charset="0"/>
              </a:rPr>
              <a:t> showing revenue, orders, customers, suppliers, and employees.</a:t>
            </a:r>
          </a:p>
          <a:p>
            <a:pPr algn="just">
              <a:buFont typeface="+mj-lt"/>
              <a:buAutoNum type="arabicPeriod"/>
            </a:pPr>
            <a:r>
              <a:rPr lang="en-IN" sz="2600" dirty="0">
                <a:latin typeface="Arial" panose="020B0604020202020204" pitchFamily="34" charset="0"/>
                <a:cs typeface="Arial" panose="020B0604020202020204" pitchFamily="34" charset="0"/>
              </a:rPr>
              <a:t>Summarized insights and prepared </a:t>
            </a:r>
            <a:r>
              <a:rPr lang="en-IN" sz="2600" b="1" dirty="0">
                <a:latin typeface="Arial" panose="020B0604020202020204" pitchFamily="34" charset="0"/>
                <a:cs typeface="Arial" panose="020B0604020202020204" pitchFamily="34" charset="0"/>
              </a:rPr>
              <a:t>recommendations</a:t>
            </a:r>
            <a:r>
              <a:rPr lang="en-IN" sz="2600" dirty="0">
                <a:latin typeface="Arial" panose="020B0604020202020204" pitchFamily="34" charset="0"/>
                <a:cs typeface="Arial" panose="020B0604020202020204" pitchFamily="34" charset="0"/>
              </a:rPr>
              <a:t> for Northwind’s business strategy.</a:t>
            </a:r>
          </a:p>
          <a:p>
            <a:pPr marL="0" indent="0">
              <a:buNone/>
            </a:pPr>
            <a:endParaRPr lang="en-IN" dirty="0"/>
          </a:p>
        </p:txBody>
      </p:sp>
      <p:cxnSp>
        <p:nvCxnSpPr>
          <p:cNvPr id="4" name="Straight Connector 3">
            <a:extLst>
              <a:ext uri="{FF2B5EF4-FFF2-40B4-BE49-F238E27FC236}">
                <a16:creationId xmlns:a16="http://schemas.microsoft.com/office/drawing/2014/main" id="{E0D9AA28-566E-40D1-89D6-CB84D872B7C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E3E0D7-05C0-49E5-A0E2-46CA00311AB6}"/>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69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922914" y="167942"/>
            <a:ext cx="432763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Sales Performance &amp; Revenue Drivers</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5" name="Picture 4">
            <a:extLst>
              <a:ext uri="{FF2B5EF4-FFF2-40B4-BE49-F238E27FC236}">
                <a16:creationId xmlns:a16="http://schemas.microsoft.com/office/drawing/2014/main" id="{8BCBCAD3-85BE-491B-8CFD-01FC1CB97D3C}"/>
              </a:ext>
            </a:extLst>
          </p:cNvPr>
          <p:cNvPicPr>
            <a:picLocks noChangeAspect="1"/>
          </p:cNvPicPr>
          <p:nvPr/>
        </p:nvPicPr>
        <p:blipFill>
          <a:blip r:embed="rId3"/>
          <a:stretch>
            <a:fillRect/>
          </a:stretch>
        </p:blipFill>
        <p:spPr>
          <a:xfrm>
            <a:off x="1572237" y="1011960"/>
            <a:ext cx="8343284" cy="2840270"/>
          </a:xfrm>
          <a:prstGeom prst="rect">
            <a:avLst/>
          </a:prstGeom>
        </p:spPr>
      </p:pic>
      <p:pic>
        <p:nvPicPr>
          <p:cNvPr id="7" name="Picture 6">
            <a:extLst>
              <a:ext uri="{FF2B5EF4-FFF2-40B4-BE49-F238E27FC236}">
                <a16:creationId xmlns:a16="http://schemas.microsoft.com/office/drawing/2014/main" id="{77ADB21A-EBAD-4CD1-A7AD-176B809EFBF6}"/>
              </a:ext>
            </a:extLst>
          </p:cNvPr>
          <p:cNvPicPr>
            <a:picLocks noChangeAspect="1"/>
          </p:cNvPicPr>
          <p:nvPr/>
        </p:nvPicPr>
        <p:blipFill>
          <a:blip r:embed="rId4"/>
          <a:stretch>
            <a:fillRect/>
          </a:stretch>
        </p:blipFill>
        <p:spPr>
          <a:xfrm>
            <a:off x="0" y="3869986"/>
            <a:ext cx="12192000" cy="2961780"/>
          </a:xfrm>
          <a:prstGeom prst="rect">
            <a:avLst/>
          </a:prstGeom>
        </p:spPr>
      </p:pic>
    </p:spTree>
    <p:extLst>
      <p:ext uri="{BB962C8B-B14F-4D97-AF65-F5344CB8AC3E}">
        <p14:creationId xmlns:p14="http://schemas.microsoft.com/office/powerpoint/2010/main" val="822569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896645" y="722132"/>
            <a:ext cx="10369118" cy="6051530"/>
          </a:xfrm>
          <a:prstGeom prst="rect">
            <a:avLst/>
          </a:prstGeom>
        </p:spPr>
        <p:txBody>
          <a:bodyPr>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Which factors most strongly influence Northwind’s sales performance and revenue?</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analyse total sales, profit, quantity, and category-wise performance.</a:t>
            </a:r>
          </a:p>
          <a:p>
            <a:pPr algn="just">
              <a:lnSpc>
                <a:spcPct val="120000"/>
              </a:lnSpc>
            </a:pPr>
            <a:r>
              <a:rPr lang="en-IN" sz="4000" dirty="0">
                <a:latin typeface="Arial" panose="020B0604020202020204" pitchFamily="34" charset="0"/>
                <a:cs typeface="Arial" panose="020B0604020202020204" pitchFamily="34" charset="0"/>
              </a:rPr>
              <a:t>Excel EDA used to examine correlation between pricing, stock levels, and total sales.</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Product pricing has a strong positive correlation with total sales.</a:t>
            </a:r>
          </a:p>
          <a:p>
            <a:pPr algn="just">
              <a:lnSpc>
                <a:spcPct val="120000"/>
              </a:lnSpc>
            </a:pPr>
            <a:r>
              <a:rPr lang="en-IN" sz="4000" dirty="0">
                <a:latin typeface="Arial" panose="020B0604020202020204" pitchFamily="34" charset="0"/>
                <a:cs typeface="Arial" panose="020B0604020202020204" pitchFamily="34" charset="0"/>
              </a:rPr>
              <a:t>Stock levels show weak relationship with revenue.</a:t>
            </a:r>
          </a:p>
          <a:p>
            <a:pPr algn="just">
              <a:lnSpc>
                <a:spcPct val="120000"/>
              </a:lnSpc>
            </a:pPr>
            <a:r>
              <a:rPr lang="en-IN" sz="4000" dirty="0">
                <a:latin typeface="Arial" panose="020B0604020202020204" pitchFamily="34" charset="0"/>
                <a:cs typeface="Arial" panose="020B0604020202020204" pitchFamily="34" charset="0"/>
              </a:rPr>
              <a:t>Dairy Products, Beverages, and Confections contribute the highest share of revenue.</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Prioritize promotion of premium and high-margin products. </a:t>
            </a:r>
          </a:p>
          <a:p>
            <a:pPr algn="just">
              <a:lnSpc>
                <a:spcPct val="120000"/>
              </a:lnSpc>
            </a:pPr>
            <a:r>
              <a:rPr lang="en-IN" sz="4000" dirty="0">
                <a:latin typeface="Arial" panose="020B0604020202020204" pitchFamily="34" charset="0"/>
                <a:cs typeface="Arial" panose="020B0604020202020204" pitchFamily="34" charset="0"/>
              </a:rPr>
              <a:t>Focus inventory planning on high-performing categories.</a:t>
            </a:r>
          </a:p>
          <a:p>
            <a:pPr algn="just">
              <a:lnSpc>
                <a:spcPct val="120000"/>
              </a:lnSpc>
            </a:pPr>
            <a:r>
              <a:rPr lang="en-IN" sz="4000" dirty="0">
                <a:latin typeface="Arial" panose="020B0604020202020204" pitchFamily="34" charset="0"/>
                <a:cs typeface="Arial" panose="020B0604020202020204" pitchFamily="34" charset="0"/>
              </a:rPr>
              <a:t>Avoid over-stocking low-impact products. Imported all datasets into Excel and Power BI.</a:t>
            </a:r>
          </a:p>
          <a:p>
            <a:pPr algn="just">
              <a:lnSpc>
                <a:spcPct val="120000"/>
              </a:lnSpc>
            </a:pPr>
            <a:r>
              <a:rPr lang="en-IN" sz="4000" dirty="0">
                <a:latin typeface="Arial" panose="020B0604020202020204" pitchFamily="34" charset="0"/>
                <a:cs typeface="Arial" panose="020B0604020202020204" pitchFamily="34" charset="0"/>
              </a:rPr>
              <a:t>Performed </a:t>
            </a:r>
            <a:r>
              <a:rPr lang="en-IN" sz="4000" b="1" dirty="0">
                <a:latin typeface="Arial" panose="020B0604020202020204" pitchFamily="34" charset="0"/>
                <a:cs typeface="Arial" panose="020B0604020202020204" pitchFamily="34" charset="0"/>
              </a:rPr>
              <a:t>data cleaning</a:t>
            </a:r>
            <a:r>
              <a:rPr lang="en-IN" sz="4000" dirty="0">
                <a:latin typeface="Arial" panose="020B0604020202020204" pitchFamily="34" charset="0"/>
                <a:cs typeface="Arial" panose="020B0604020202020204" pitchFamily="34" charset="0"/>
              </a:rPr>
              <a:t> — removing nulls, duplicates, format corrections.</a:t>
            </a:r>
          </a:p>
          <a:p>
            <a:pPr algn="just">
              <a:lnSpc>
                <a:spcPct val="120000"/>
              </a:lnSpc>
            </a:pPr>
            <a:r>
              <a:rPr lang="en-IN" sz="4000" dirty="0">
                <a:latin typeface="Arial" panose="020B0604020202020204" pitchFamily="34" charset="0"/>
                <a:cs typeface="Arial" panose="020B0604020202020204" pitchFamily="34" charset="0"/>
              </a:rPr>
              <a:t>Created </a:t>
            </a:r>
            <a:r>
              <a:rPr lang="en-IN" sz="4000" b="1" dirty="0">
                <a:latin typeface="Arial" panose="020B0604020202020204" pitchFamily="34" charset="0"/>
                <a:cs typeface="Arial" panose="020B0604020202020204" pitchFamily="34" charset="0"/>
              </a:rPr>
              <a:t>relationships</a:t>
            </a:r>
            <a:r>
              <a:rPr lang="en-IN" sz="4000" dirty="0">
                <a:latin typeface="Arial" panose="020B0604020202020204" pitchFamily="34" charset="0"/>
                <a:cs typeface="Arial" panose="020B0604020202020204" pitchFamily="34" charset="0"/>
              </a:rPr>
              <a:t> between tables using primary–foreign keys.</a:t>
            </a:r>
          </a:p>
          <a:p>
            <a:pPr algn="just">
              <a:lnSpc>
                <a:spcPct val="120000"/>
              </a:lnSpc>
            </a:pPr>
            <a:r>
              <a:rPr lang="en-IN" sz="4000" dirty="0">
                <a:latin typeface="Arial" panose="020B0604020202020204" pitchFamily="34" charset="0"/>
                <a:cs typeface="Arial" panose="020B0604020202020204" pitchFamily="34" charset="0"/>
              </a:rPr>
              <a:t>Conducted </a:t>
            </a:r>
            <a:r>
              <a:rPr lang="en-IN" sz="4000" b="1" dirty="0">
                <a:latin typeface="Arial" panose="020B0604020202020204" pitchFamily="34" charset="0"/>
                <a:cs typeface="Arial" panose="020B0604020202020204" pitchFamily="34" charset="0"/>
              </a:rPr>
              <a:t>Exploratory Data Analysis (EDA)</a:t>
            </a:r>
            <a:r>
              <a:rPr lang="en-IN" sz="4000" dirty="0">
                <a:latin typeface="Arial" panose="020B0604020202020204" pitchFamily="34" charset="0"/>
                <a:cs typeface="Arial" panose="020B0604020202020204" pitchFamily="34" charset="0"/>
              </a:rPr>
              <a:t> with pivot tables, formulas, correlations.</a:t>
            </a:r>
          </a:p>
          <a:p>
            <a:pPr algn="just">
              <a:lnSpc>
                <a:spcPct val="120000"/>
              </a:lnSpc>
            </a:pPr>
            <a:r>
              <a:rPr lang="en-IN" sz="4000" dirty="0">
                <a:latin typeface="Arial" panose="020B0604020202020204" pitchFamily="34" charset="0"/>
                <a:cs typeface="Arial" panose="020B0604020202020204" pitchFamily="34" charset="0"/>
              </a:rPr>
              <a:t>Built </a:t>
            </a:r>
            <a:r>
              <a:rPr lang="en-IN" sz="4000" b="1" dirty="0">
                <a:latin typeface="Arial" panose="020B0604020202020204" pitchFamily="34" charset="0"/>
                <a:cs typeface="Arial" panose="020B0604020202020204" pitchFamily="34" charset="0"/>
              </a:rPr>
              <a:t>visual dashboards</a:t>
            </a:r>
            <a:r>
              <a:rPr lang="en-IN" sz="4000" dirty="0">
                <a:latin typeface="Arial" panose="020B0604020202020204" pitchFamily="34" charset="0"/>
                <a:cs typeface="Arial" panose="020B0604020202020204" pitchFamily="34" charset="0"/>
              </a:rPr>
              <a:t> showing revenue, orders, customers, suppliers, and employees.</a:t>
            </a:r>
          </a:p>
          <a:p>
            <a:pPr algn="just">
              <a:lnSpc>
                <a:spcPct val="120000"/>
              </a:lnSpc>
            </a:pPr>
            <a:r>
              <a:rPr lang="en-IN" sz="4000" dirty="0">
                <a:latin typeface="Arial" panose="020B0604020202020204" pitchFamily="34" charset="0"/>
                <a:cs typeface="Arial" panose="020B0604020202020204" pitchFamily="34" charset="0"/>
              </a:rPr>
              <a:t>Summarized insights and prepared </a:t>
            </a:r>
            <a:r>
              <a:rPr lang="en-IN" sz="4000" b="1" dirty="0">
                <a:latin typeface="Arial" panose="020B0604020202020204" pitchFamily="34" charset="0"/>
                <a:cs typeface="Arial" panose="020B0604020202020204" pitchFamily="34" charset="0"/>
              </a:rPr>
              <a:t>recommendations</a:t>
            </a:r>
            <a:r>
              <a:rPr lang="en-IN" sz="4000" dirty="0">
                <a:latin typeface="Arial" panose="020B0604020202020204" pitchFamily="34" charset="0"/>
                <a:cs typeface="Arial" panose="020B0604020202020204" pitchFamily="34" charset="0"/>
              </a:rPr>
              <a:t> for Northwind’s business strategy.</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338152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932182" y="5737"/>
            <a:ext cx="432763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Customer Segmentation &amp; Ordering Behaviour</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 name="Picture 2">
            <a:extLst>
              <a:ext uri="{FF2B5EF4-FFF2-40B4-BE49-F238E27FC236}">
                <a16:creationId xmlns:a16="http://schemas.microsoft.com/office/drawing/2014/main" id="{428BA2FD-93F9-4BB9-A6B6-DBDF2DC7E7B0}"/>
              </a:ext>
            </a:extLst>
          </p:cNvPr>
          <p:cNvPicPr>
            <a:picLocks noChangeAspect="1"/>
          </p:cNvPicPr>
          <p:nvPr/>
        </p:nvPicPr>
        <p:blipFill>
          <a:blip r:embed="rId3"/>
          <a:stretch>
            <a:fillRect/>
          </a:stretch>
        </p:blipFill>
        <p:spPr>
          <a:xfrm>
            <a:off x="326342" y="1149054"/>
            <a:ext cx="5598507" cy="4773859"/>
          </a:xfrm>
          <a:prstGeom prst="rect">
            <a:avLst/>
          </a:prstGeom>
        </p:spPr>
      </p:pic>
      <p:pic>
        <p:nvPicPr>
          <p:cNvPr id="13" name="Picture 12">
            <a:extLst>
              <a:ext uri="{FF2B5EF4-FFF2-40B4-BE49-F238E27FC236}">
                <a16:creationId xmlns:a16="http://schemas.microsoft.com/office/drawing/2014/main" id="{C4E2E1C9-FF8B-405D-8944-AB56A8E2D5A0}"/>
              </a:ext>
            </a:extLst>
          </p:cNvPr>
          <p:cNvPicPr>
            <a:picLocks noChangeAspect="1"/>
          </p:cNvPicPr>
          <p:nvPr/>
        </p:nvPicPr>
        <p:blipFill>
          <a:blip r:embed="rId4"/>
          <a:stretch>
            <a:fillRect/>
          </a:stretch>
        </p:blipFill>
        <p:spPr>
          <a:xfrm>
            <a:off x="6095999" y="1200811"/>
            <a:ext cx="6060930" cy="4690405"/>
          </a:xfrm>
          <a:prstGeom prst="rect">
            <a:avLst/>
          </a:prstGeom>
        </p:spPr>
      </p:pic>
    </p:spTree>
    <p:extLst>
      <p:ext uri="{BB962C8B-B14F-4D97-AF65-F5344CB8AC3E}">
        <p14:creationId xmlns:p14="http://schemas.microsoft.com/office/powerpoint/2010/main" val="2661108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How do customer ordering patterns vary, and which customer segments contribute most to revenue?</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analyse customer-level order volume and revenue contribution.</a:t>
            </a:r>
          </a:p>
          <a:p>
            <a:pPr algn="just">
              <a:lnSpc>
                <a:spcPct val="120000"/>
              </a:lnSpc>
            </a:pPr>
            <a:r>
              <a:rPr lang="en-IN" sz="4000" dirty="0">
                <a:latin typeface="Arial" panose="020B0604020202020204" pitchFamily="34" charset="0"/>
                <a:cs typeface="Arial" panose="020B0604020202020204" pitchFamily="34" charset="0"/>
              </a:rPr>
              <a:t>Excel EDA used to aggregate order count, total spend, and identify customer segments (High, Medium, Low value).</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Customers can be clearly grouped into High-value, Medium-value, and Low-value segments.</a:t>
            </a:r>
          </a:p>
          <a:p>
            <a:pPr algn="just">
              <a:lnSpc>
                <a:spcPct val="120000"/>
              </a:lnSpc>
            </a:pPr>
            <a:r>
              <a:rPr lang="en-IN" sz="4000" dirty="0">
                <a:latin typeface="Arial" panose="020B0604020202020204" pitchFamily="34" charset="0"/>
                <a:cs typeface="Arial" panose="020B0604020202020204" pitchFamily="34" charset="0"/>
              </a:rPr>
              <a:t>High-value customers place orders more frequently and contribute a disproportionately large share of revenue.</a:t>
            </a:r>
          </a:p>
          <a:p>
            <a:pPr algn="just">
              <a:lnSpc>
                <a:spcPct val="120000"/>
              </a:lnSpc>
            </a:pPr>
            <a:r>
              <a:rPr lang="en-IN" sz="4000" dirty="0">
                <a:latin typeface="Arial" panose="020B0604020202020204" pitchFamily="34" charset="0"/>
                <a:cs typeface="Arial" panose="020B0604020202020204" pitchFamily="34" charset="0"/>
              </a:rPr>
              <a:t>Low-value customers order infrequently and generate minimal revenue impact.</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Design loyalty and retention programs for high-value customers.</a:t>
            </a:r>
          </a:p>
          <a:p>
            <a:pPr algn="just">
              <a:lnSpc>
                <a:spcPct val="120000"/>
              </a:lnSpc>
            </a:pPr>
            <a:r>
              <a:rPr lang="en-IN" sz="4000" dirty="0">
                <a:latin typeface="Arial" panose="020B0604020202020204" pitchFamily="34" charset="0"/>
                <a:cs typeface="Arial" panose="020B0604020202020204" pitchFamily="34" charset="0"/>
              </a:rPr>
              <a:t>Encourage medium-value customers with targeted offers to increase frequency.</a:t>
            </a:r>
          </a:p>
          <a:p>
            <a:pPr algn="just">
              <a:lnSpc>
                <a:spcPct val="120000"/>
              </a:lnSpc>
            </a:pPr>
            <a:r>
              <a:rPr lang="en-IN" sz="4000" dirty="0">
                <a:latin typeface="Arial" panose="020B0604020202020204" pitchFamily="34" charset="0"/>
                <a:cs typeface="Arial" panose="020B0604020202020204" pitchFamily="34" charset="0"/>
              </a:rPr>
              <a:t>Use selective promotions or reactivation campaigns for low-value customers..</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2812825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7" name="Rectangle 46">
            <a:extLst>
              <a:ext uri="{FF2B5EF4-FFF2-40B4-BE49-F238E27FC236}">
                <a16:creationId xmlns:a16="http://schemas.microsoft.com/office/drawing/2014/main" id="{1751D31D-3535-411D-8BAC-95CCC90AB185}"/>
              </a:ext>
            </a:extLst>
          </p:cNvPr>
          <p:cNvSpPr/>
          <p:nvPr/>
        </p:nvSpPr>
        <p:spPr>
          <a:xfrm>
            <a:off x="3243403" y="2886560"/>
            <a:ext cx="1371600" cy="492443"/>
          </a:xfrm>
          <a:prstGeom prst="rect">
            <a:avLst/>
          </a:prstGeom>
        </p:spPr>
        <p:txBody>
          <a:bodyPr wrap="square" lIns="0" tIns="0" rIns="0" bIns="0">
            <a:spAutoFit/>
          </a:bodyPr>
          <a:lstStyle/>
          <a:p>
            <a:pPr algn="ctr"/>
            <a:r>
              <a:rPr lang="en-US" sz="1600" b="1" dirty="0">
                <a:solidFill>
                  <a:schemeClr val="bg1"/>
                </a:solidFill>
              </a:rPr>
              <a:t>TECHNICAL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932182" y="5737"/>
            <a:ext cx="432763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Regional &amp; Geographic Sales Performance</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00343"/>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 name="Picture 2">
            <a:extLst>
              <a:ext uri="{FF2B5EF4-FFF2-40B4-BE49-F238E27FC236}">
                <a16:creationId xmlns:a16="http://schemas.microsoft.com/office/drawing/2014/main" id="{428BA2FD-93F9-4BB9-A6B6-DBDF2DC7E7B0}"/>
              </a:ext>
            </a:extLst>
          </p:cNvPr>
          <p:cNvPicPr>
            <a:picLocks noChangeAspect="1"/>
          </p:cNvPicPr>
          <p:nvPr/>
        </p:nvPicPr>
        <p:blipFill>
          <a:blip r:embed="rId3"/>
          <a:stretch>
            <a:fillRect/>
          </a:stretch>
        </p:blipFill>
        <p:spPr>
          <a:xfrm>
            <a:off x="1396422" y="856200"/>
            <a:ext cx="9417699" cy="3275917"/>
          </a:xfrm>
          <a:prstGeom prst="rect">
            <a:avLst/>
          </a:prstGeom>
        </p:spPr>
      </p:pic>
      <p:pic>
        <p:nvPicPr>
          <p:cNvPr id="5" name="Picture 4">
            <a:extLst>
              <a:ext uri="{FF2B5EF4-FFF2-40B4-BE49-F238E27FC236}">
                <a16:creationId xmlns:a16="http://schemas.microsoft.com/office/drawing/2014/main" id="{938FC5E3-33F8-46BF-9A8C-999C03353C48}"/>
              </a:ext>
            </a:extLst>
          </p:cNvPr>
          <p:cNvPicPr>
            <a:picLocks noChangeAspect="1"/>
          </p:cNvPicPr>
          <p:nvPr/>
        </p:nvPicPr>
        <p:blipFill>
          <a:blip r:embed="rId4"/>
          <a:stretch>
            <a:fillRect/>
          </a:stretch>
        </p:blipFill>
        <p:spPr>
          <a:xfrm>
            <a:off x="-1" y="4229801"/>
            <a:ext cx="12192000" cy="2518370"/>
          </a:xfrm>
          <a:prstGeom prst="rect">
            <a:avLst/>
          </a:prstGeom>
        </p:spPr>
      </p:pic>
    </p:spTree>
    <p:extLst>
      <p:ext uri="{BB962C8B-B14F-4D97-AF65-F5344CB8AC3E}">
        <p14:creationId xmlns:p14="http://schemas.microsoft.com/office/powerpoint/2010/main" val="2025346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Which countries and regions generate the highest sales and order volumes?</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visualize sales and order distribution by country.</a:t>
            </a:r>
          </a:p>
          <a:p>
            <a:pPr algn="just">
              <a:lnSpc>
                <a:spcPct val="120000"/>
              </a:lnSpc>
            </a:pPr>
            <a:r>
              <a:rPr lang="en-IN" sz="4000" dirty="0">
                <a:latin typeface="Arial" panose="020B0604020202020204" pitchFamily="34" charset="0"/>
                <a:cs typeface="Arial" panose="020B0604020202020204" pitchFamily="34" charset="0"/>
              </a:rPr>
              <a:t>Excel EDA used to summarize order counts and revenue by geographic location.</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USA, Germany, Brazil, France, and the UK generate the highest number of orders and revenue.</a:t>
            </a:r>
          </a:p>
          <a:p>
            <a:pPr algn="just">
              <a:lnSpc>
                <a:spcPct val="120000"/>
              </a:lnSpc>
            </a:pPr>
            <a:r>
              <a:rPr lang="en-IN" sz="4000" dirty="0">
                <a:latin typeface="Arial" panose="020B0604020202020204" pitchFamily="34" charset="0"/>
                <a:cs typeface="Arial" panose="020B0604020202020204" pitchFamily="34" charset="0"/>
              </a:rPr>
              <a:t>Sales activity is concentrated in a small group of high-performing regions.</a:t>
            </a:r>
          </a:p>
          <a:p>
            <a:pPr algn="just">
              <a:lnSpc>
                <a:spcPct val="120000"/>
              </a:lnSpc>
            </a:pPr>
            <a:r>
              <a:rPr lang="en-IN" sz="4000" dirty="0">
                <a:latin typeface="Arial" panose="020B0604020202020204" pitchFamily="34" charset="0"/>
                <a:cs typeface="Arial" panose="020B0604020202020204" pitchFamily="34" charset="0"/>
              </a:rPr>
              <a:t>Several countries contribute only marginal sales.</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Prioritize marketing and inventory planning in top-performing countries.</a:t>
            </a:r>
          </a:p>
          <a:p>
            <a:pPr algn="just">
              <a:lnSpc>
                <a:spcPct val="120000"/>
              </a:lnSpc>
            </a:pPr>
            <a:r>
              <a:rPr lang="en-IN" sz="4000" dirty="0">
                <a:latin typeface="Arial" panose="020B0604020202020204" pitchFamily="34" charset="0"/>
                <a:cs typeface="Arial" panose="020B0604020202020204" pitchFamily="34" charset="0"/>
              </a:rPr>
              <a:t>Explore regional expansion strategies in high-growth markets.</a:t>
            </a:r>
          </a:p>
          <a:p>
            <a:pPr algn="just">
              <a:lnSpc>
                <a:spcPct val="120000"/>
              </a:lnSpc>
            </a:pPr>
            <a:r>
              <a:rPr lang="en-IN" sz="4000" dirty="0">
                <a:latin typeface="Arial" panose="020B0604020202020204" pitchFamily="34" charset="0"/>
                <a:cs typeface="Arial" panose="020B0604020202020204" pitchFamily="34" charset="0"/>
              </a:rPr>
              <a:t>Optimize logistics and warehousing for high-demand regions.</a:t>
            </a:r>
            <a:endParaRPr lang="en-IN" dirty="0"/>
          </a:p>
        </p:txBody>
      </p:sp>
    </p:spTree>
    <p:extLst>
      <p:ext uri="{BB962C8B-B14F-4D97-AF65-F5344CB8AC3E}">
        <p14:creationId xmlns:p14="http://schemas.microsoft.com/office/powerpoint/2010/main" val="78968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417789" y="50483"/>
            <a:ext cx="5016413"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Product Category &amp; Product-Level Performance</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5" name="Picture 4">
            <a:extLst>
              <a:ext uri="{FF2B5EF4-FFF2-40B4-BE49-F238E27FC236}">
                <a16:creationId xmlns:a16="http://schemas.microsoft.com/office/drawing/2014/main" id="{BD2539D3-D518-465C-8297-2BD9AC398DA2}"/>
              </a:ext>
            </a:extLst>
          </p:cNvPr>
          <p:cNvPicPr>
            <a:picLocks noChangeAspect="1"/>
          </p:cNvPicPr>
          <p:nvPr/>
        </p:nvPicPr>
        <p:blipFill>
          <a:blip r:embed="rId3"/>
          <a:stretch>
            <a:fillRect/>
          </a:stretch>
        </p:blipFill>
        <p:spPr>
          <a:xfrm>
            <a:off x="208727" y="860827"/>
            <a:ext cx="11774543" cy="2924590"/>
          </a:xfrm>
          <a:prstGeom prst="rect">
            <a:avLst/>
          </a:prstGeom>
        </p:spPr>
      </p:pic>
      <p:pic>
        <p:nvPicPr>
          <p:cNvPr id="13" name="Picture 12">
            <a:extLst>
              <a:ext uri="{FF2B5EF4-FFF2-40B4-BE49-F238E27FC236}">
                <a16:creationId xmlns:a16="http://schemas.microsoft.com/office/drawing/2014/main" id="{112450A5-ED38-452C-AD13-CCF16FFAD727}"/>
              </a:ext>
            </a:extLst>
          </p:cNvPr>
          <p:cNvPicPr>
            <a:picLocks noChangeAspect="1"/>
          </p:cNvPicPr>
          <p:nvPr/>
        </p:nvPicPr>
        <p:blipFill>
          <a:blip r:embed="rId4"/>
          <a:stretch>
            <a:fillRect/>
          </a:stretch>
        </p:blipFill>
        <p:spPr>
          <a:xfrm>
            <a:off x="884223" y="3797615"/>
            <a:ext cx="10157403" cy="3049971"/>
          </a:xfrm>
          <a:prstGeom prst="rect">
            <a:avLst/>
          </a:prstGeom>
        </p:spPr>
      </p:pic>
    </p:spTree>
    <p:extLst>
      <p:ext uri="{BB962C8B-B14F-4D97-AF65-F5344CB8AC3E}">
        <p14:creationId xmlns:p14="http://schemas.microsoft.com/office/powerpoint/2010/main" val="4018796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Which product categories and individual products contribute most to revenue?</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visualize category-wise and product-wise revenue contribution.</a:t>
            </a:r>
          </a:p>
          <a:p>
            <a:pPr algn="just">
              <a:lnSpc>
                <a:spcPct val="120000"/>
              </a:lnSpc>
            </a:pPr>
            <a:r>
              <a:rPr lang="en-IN" sz="4000" dirty="0">
                <a:latin typeface="Arial" panose="020B0604020202020204" pitchFamily="34" charset="0"/>
                <a:cs typeface="Arial" panose="020B0604020202020204" pitchFamily="34" charset="0"/>
              </a:rPr>
              <a:t>Excel EDA used to aggregate total sales by category and by product.</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Dairy Products, Beverages, and Confections are the top revenue-generating categories.</a:t>
            </a:r>
          </a:p>
          <a:p>
            <a:pPr algn="just">
              <a:lnSpc>
                <a:spcPct val="120000"/>
              </a:lnSpc>
            </a:pPr>
            <a:r>
              <a:rPr lang="en-IN" sz="4000" dirty="0">
                <a:latin typeface="Arial" panose="020B0604020202020204" pitchFamily="34" charset="0"/>
                <a:cs typeface="Arial" panose="020B0604020202020204" pitchFamily="34" charset="0"/>
              </a:rPr>
              <a:t>A small group of products contributes a disproportionately large share of total revenue.</a:t>
            </a:r>
          </a:p>
          <a:p>
            <a:pPr algn="just">
              <a:lnSpc>
                <a:spcPct val="120000"/>
              </a:lnSpc>
            </a:pPr>
            <a:r>
              <a:rPr lang="en-IN" sz="4000" dirty="0">
                <a:latin typeface="Arial" panose="020B0604020202020204" pitchFamily="34" charset="0"/>
                <a:cs typeface="Arial" panose="020B0604020202020204" pitchFamily="34" charset="0"/>
              </a:rPr>
              <a:t>Several products show very low sales despite being available in inventory.</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Increase focus on promoting high-performing categories and top products.</a:t>
            </a:r>
          </a:p>
          <a:p>
            <a:pPr algn="just">
              <a:lnSpc>
                <a:spcPct val="120000"/>
              </a:lnSpc>
            </a:pPr>
            <a:r>
              <a:rPr lang="en-IN" sz="4000" dirty="0">
                <a:latin typeface="Arial" panose="020B0604020202020204" pitchFamily="34" charset="0"/>
                <a:cs typeface="Arial" panose="020B0604020202020204" pitchFamily="34" charset="0"/>
              </a:rPr>
              <a:t>Review pricing and positioning of low-performing products.</a:t>
            </a:r>
          </a:p>
          <a:p>
            <a:pPr algn="just">
              <a:lnSpc>
                <a:spcPct val="120000"/>
              </a:lnSpc>
            </a:pPr>
            <a:r>
              <a:rPr lang="en-IN" sz="4000" dirty="0">
                <a:latin typeface="Arial" panose="020B0604020202020204" pitchFamily="34" charset="0"/>
                <a:cs typeface="Arial" panose="020B0604020202020204" pitchFamily="34" charset="0"/>
              </a:rPr>
              <a:t>Consider discontinuation or bundling for consistently low-impact items.</a:t>
            </a:r>
            <a:endParaRPr lang="en-IN" dirty="0"/>
          </a:p>
        </p:txBody>
      </p:sp>
    </p:spTree>
    <p:extLst>
      <p:ext uri="{BB962C8B-B14F-4D97-AF65-F5344CB8AC3E}">
        <p14:creationId xmlns:p14="http://schemas.microsoft.com/office/powerpoint/2010/main" val="4217092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417789" y="50483"/>
            <a:ext cx="5016413"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Customer Order Frequency &amp; Loyalty</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 name="Picture 2">
            <a:extLst>
              <a:ext uri="{FF2B5EF4-FFF2-40B4-BE49-F238E27FC236}">
                <a16:creationId xmlns:a16="http://schemas.microsoft.com/office/drawing/2014/main" id="{2E8AA6AE-78C5-44F4-A961-70A9C2D59BEB}"/>
              </a:ext>
            </a:extLst>
          </p:cNvPr>
          <p:cNvPicPr>
            <a:picLocks noChangeAspect="1"/>
          </p:cNvPicPr>
          <p:nvPr/>
        </p:nvPicPr>
        <p:blipFill>
          <a:blip r:embed="rId3"/>
          <a:stretch>
            <a:fillRect/>
          </a:stretch>
        </p:blipFill>
        <p:spPr>
          <a:xfrm>
            <a:off x="148987" y="856200"/>
            <a:ext cx="5504284" cy="5791886"/>
          </a:xfrm>
          <a:prstGeom prst="rect">
            <a:avLst/>
          </a:prstGeom>
        </p:spPr>
      </p:pic>
      <p:pic>
        <p:nvPicPr>
          <p:cNvPr id="7" name="Picture 6">
            <a:extLst>
              <a:ext uri="{FF2B5EF4-FFF2-40B4-BE49-F238E27FC236}">
                <a16:creationId xmlns:a16="http://schemas.microsoft.com/office/drawing/2014/main" id="{EECB2BD2-1F2D-40A0-851F-1A0DC688030A}"/>
              </a:ext>
            </a:extLst>
          </p:cNvPr>
          <p:cNvPicPr>
            <a:picLocks noChangeAspect="1"/>
          </p:cNvPicPr>
          <p:nvPr/>
        </p:nvPicPr>
        <p:blipFill>
          <a:blip r:embed="rId4"/>
          <a:stretch>
            <a:fillRect/>
          </a:stretch>
        </p:blipFill>
        <p:spPr>
          <a:xfrm>
            <a:off x="5666553" y="971244"/>
            <a:ext cx="6396630" cy="1457528"/>
          </a:xfrm>
          <a:prstGeom prst="rect">
            <a:avLst/>
          </a:prstGeom>
        </p:spPr>
      </p:pic>
      <p:pic>
        <p:nvPicPr>
          <p:cNvPr id="12" name="Picture 11">
            <a:extLst>
              <a:ext uri="{FF2B5EF4-FFF2-40B4-BE49-F238E27FC236}">
                <a16:creationId xmlns:a16="http://schemas.microsoft.com/office/drawing/2014/main" id="{D1822AA6-14B9-41CE-B503-1C6F1862D454}"/>
              </a:ext>
            </a:extLst>
          </p:cNvPr>
          <p:cNvPicPr>
            <a:picLocks noChangeAspect="1"/>
          </p:cNvPicPr>
          <p:nvPr/>
        </p:nvPicPr>
        <p:blipFill>
          <a:blip r:embed="rId5"/>
          <a:stretch>
            <a:fillRect/>
          </a:stretch>
        </p:blipFill>
        <p:spPr>
          <a:xfrm>
            <a:off x="5666553" y="2378860"/>
            <a:ext cx="6486118" cy="1664895"/>
          </a:xfrm>
          <a:prstGeom prst="rect">
            <a:avLst/>
          </a:prstGeom>
        </p:spPr>
      </p:pic>
      <p:pic>
        <p:nvPicPr>
          <p:cNvPr id="16" name="Picture 15">
            <a:extLst>
              <a:ext uri="{FF2B5EF4-FFF2-40B4-BE49-F238E27FC236}">
                <a16:creationId xmlns:a16="http://schemas.microsoft.com/office/drawing/2014/main" id="{7CA0AA77-FA6B-4C2D-A393-D8D4C4F0F75B}"/>
              </a:ext>
            </a:extLst>
          </p:cNvPr>
          <p:cNvPicPr>
            <a:picLocks noChangeAspect="1"/>
          </p:cNvPicPr>
          <p:nvPr/>
        </p:nvPicPr>
        <p:blipFill>
          <a:blip r:embed="rId6"/>
          <a:stretch>
            <a:fillRect/>
          </a:stretch>
        </p:blipFill>
        <p:spPr>
          <a:xfrm>
            <a:off x="5667401" y="4127316"/>
            <a:ext cx="6478188" cy="1666246"/>
          </a:xfrm>
          <a:prstGeom prst="rect">
            <a:avLst/>
          </a:prstGeom>
        </p:spPr>
      </p:pic>
    </p:spTree>
    <p:extLst>
      <p:ext uri="{BB962C8B-B14F-4D97-AF65-F5344CB8AC3E}">
        <p14:creationId xmlns:p14="http://schemas.microsoft.com/office/powerpoint/2010/main" val="1167382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How frequently do different customer segments place orders, and what does this indicate about customer loyalty?</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analyse order frequency by customer.</a:t>
            </a:r>
          </a:p>
          <a:p>
            <a:pPr algn="just">
              <a:lnSpc>
                <a:spcPct val="120000"/>
              </a:lnSpc>
            </a:pPr>
            <a:r>
              <a:rPr lang="en-IN" sz="4000" dirty="0">
                <a:latin typeface="Arial" panose="020B0604020202020204" pitchFamily="34" charset="0"/>
                <a:cs typeface="Arial" panose="020B0604020202020204" pitchFamily="34" charset="0"/>
              </a:rPr>
              <a:t>Excel EDA used to calculate average orders per customer segment.</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High-value customers place orders most frequently.</a:t>
            </a:r>
          </a:p>
          <a:p>
            <a:pPr algn="just">
              <a:lnSpc>
                <a:spcPct val="120000"/>
              </a:lnSpc>
            </a:pPr>
            <a:r>
              <a:rPr lang="en-IN" sz="4000" dirty="0">
                <a:latin typeface="Arial" panose="020B0604020202020204" pitchFamily="34" charset="0"/>
                <a:cs typeface="Arial" panose="020B0604020202020204" pitchFamily="34" charset="0"/>
              </a:rPr>
              <a:t>Medium-value customers show steady but moderate ordering behaviour.</a:t>
            </a:r>
          </a:p>
          <a:p>
            <a:pPr algn="just">
              <a:lnSpc>
                <a:spcPct val="120000"/>
              </a:lnSpc>
            </a:pPr>
            <a:r>
              <a:rPr lang="en-IN" sz="4000" dirty="0">
                <a:latin typeface="Arial" panose="020B0604020202020204" pitchFamily="34" charset="0"/>
                <a:cs typeface="Arial" panose="020B0604020202020204" pitchFamily="34" charset="0"/>
              </a:rPr>
              <a:t>Low-value customers place very few orders.</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Strengthen loyalty programs for high-value customers.</a:t>
            </a:r>
          </a:p>
          <a:p>
            <a:pPr algn="just">
              <a:lnSpc>
                <a:spcPct val="120000"/>
              </a:lnSpc>
            </a:pPr>
            <a:r>
              <a:rPr lang="en-IN" sz="4000" dirty="0">
                <a:latin typeface="Arial" panose="020B0604020202020204" pitchFamily="34" charset="0"/>
                <a:cs typeface="Arial" panose="020B0604020202020204" pitchFamily="34" charset="0"/>
              </a:rPr>
              <a:t>Introduce incentives to convert medium-value customers into high-value.</a:t>
            </a:r>
          </a:p>
          <a:p>
            <a:pPr algn="just">
              <a:lnSpc>
                <a:spcPct val="120000"/>
              </a:lnSpc>
            </a:pPr>
            <a:r>
              <a:rPr lang="en-IN" sz="4000" dirty="0">
                <a:latin typeface="Arial" panose="020B0604020202020204" pitchFamily="34" charset="0"/>
                <a:cs typeface="Arial" panose="020B0604020202020204" pitchFamily="34" charset="0"/>
              </a:rPr>
              <a:t>Re-engage low-value customers through targeted promotions.</a:t>
            </a:r>
            <a:endParaRPr lang="en-IN" dirty="0"/>
          </a:p>
        </p:txBody>
      </p:sp>
    </p:spTree>
    <p:extLst>
      <p:ext uri="{BB962C8B-B14F-4D97-AF65-F5344CB8AC3E}">
        <p14:creationId xmlns:p14="http://schemas.microsoft.com/office/powerpoint/2010/main" val="1144569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8" name="Rectangle 47">
            <a:extLst>
              <a:ext uri="{FF2B5EF4-FFF2-40B4-BE49-F238E27FC236}">
                <a16:creationId xmlns:a16="http://schemas.microsoft.com/office/drawing/2014/main" id="{FA4D735A-8F75-4E2A-8F1A-CC303B0718BA}"/>
              </a:ext>
            </a:extLst>
          </p:cNvPr>
          <p:cNvSpPr/>
          <p:nvPr/>
        </p:nvSpPr>
        <p:spPr>
          <a:xfrm>
            <a:off x="5410201" y="2886560"/>
            <a:ext cx="1371600" cy="492443"/>
          </a:xfrm>
          <a:prstGeom prst="rect">
            <a:avLst/>
          </a:prstGeom>
        </p:spPr>
        <p:txBody>
          <a:bodyPr wrap="square" lIns="0" tIns="0" rIns="0" bIns="0">
            <a:spAutoFit/>
          </a:bodyPr>
          <a:lstStyle/>
          <a:p>
            <a:pPr algn="ctr"/>
            <a:r>
              <a:rPr lang="en-US" sz="1600" b="1" dirty="0">
                <a:solidFill>
                  <a:schemeClr val="bg1"/>
                </a:solidFill>
              </a:rPr>
              <a:t>FIANCIAL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417789" y="50483"/>
            <a:ext cx="550428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Employee Distribution &amp; Workforce Structure</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3" name="Rectangle 52">
            <a:extLst>
              <a:ext uri="{FF2B5EF4-FFF2-40B4-BE49-F238E27FC236}">
                <a16:creationId xmlns:a16="http://schemas.microsoft.com/office/drawing/2014/main" id="{E1535E1C-6EBC-45D8-BCE1-D5B947A61FB6}"/>
              </a:ext>
            </a:extLst>
          </p:cNvPr>
          <p:cNvSpPr/>
          <p:nvPr/>
        </p:nvSpPr>
        <p:spPr>
          <a:xfrm>
            <a:off x="52199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5" name="Rectangle 54">
            <a:extLst>
              <a:ext uri="{FF2B5EF4-FFF2-40B4-BE49-F238E27FC236}">
                <a16:creationId xmlns:a16="http://schemas.microsoft.com/office/drawing/2014/main" id="{5BCD242F-9A97-473E-8E17-3F6C3C75CE68}"/>
              </a:ext>
            </a:extLst>
          </p:cNvPr>
          <p:cNvSpPr/>
          <p:nvPr/>
        </p:nvSpPr>
        <p:spPr>
          <a:xfrm>
            <a:off x="9555735"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5" name="Picture 4">
            <a:extLst>
              <a:ext uri="{FF2B5EF4-FFF2-40B4-BE49-F238E27FC236}">
                <a16:creationId xmlns:a16="http://schemas.microsoft.com/office/drawing/2014/main" id="{79D30BBF-ADF1-4916-BCE7-12AD5E3B0AD3}"/>
              </a:ext>
            </a:extLst>
          </p:cNvPr>
          <p:cNvPicPr>
            <a:picLocks noChangeAspect="1"/>
          </p:cNvPicPr>
          <p:nvPr/>
        </p:nvPicPr>
        <p:blipFill>
          <a:blip r:embed="rId3"/>
          <a:stretch>
            <a:fillRect/>
          </a:stretch>
        </p:blipFill>
        <p:spPr>
          <a:xfrm>
            <a:off x="124746" y="853982"/>
            <a:ext cx="11765017" cy="2675800"/>
          </a:xfrm>
          <a:prstGeom prst="rect">
            <a:avLst/>
          </a:prstGeom>
        </p:spPr>
      </p:pic>
      <p:pic>
        <p:nvPicPr>
          <p:cNvPr id="10" name="Picture 9">
            <a:extLst>
              <a:ext uri="{FF2B5EF4-FFF2-40B4-BE49-F238E27FC236}">
                <a16:creationId xmlns:a16="http://schemas.microsoft.com/office/drawing/2014/main" id="{A0D933A6-CDED-40B6-BC8E-3C90AA9375FA}"/>
              </a:ext>
            </a:extLst>
          </p:cNvPr>
          <p:cNvPicPr>
            <a:picLocks noChangeAspect="1"/>
          </p:cNvPicPr>
          <p:nvPr/>
        </p:nvPicPr>
        <p:blipFill>
          <a:blip r:embed="rId4"/>
          <a:stretch>
            <a:fillRect/>
          </a:stretch>
        </p:blipFill>
        <p:spPr>
          <a:xfrm>
            <a:off x="3790988" y="3625616"/>
            <a:ext cx="4229690" cy="3143689"/>
          </a:xfrm>
          <a:prstGeom prst="rect">
            <a:avLst/>
          </a:prstGeom>
        </p:spPr>
      </p:pic>
    </p:spTree>
    <p:extLst>
      <p:ext uri="{BB962C8B-B14F-4D97-AF65-F5344CB8AC3E}">
        <p14:creationId xmlns:p14="http://schemas.microsoft.com/office/powerpoint/2010/main" val="3002449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How are employees distributed across regions and job roles?</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visualize employee distribution by country and title.</a:t>
            </a:r>
          </a:p>
          <a:p>
            <a:pPr algn="just">
              <a:lnSpc>
                <a:spcPct val="120000"/>
              </a:lnSpc>
            </a:pPr>
            <a:r>
              <a:rPr lang="en-IN" sz="4000" dirty="0">
                <a:latin typeface="Arial" panose="020B0604020202020204" pitchFamily="34" charset="0"/>
                <a:cs typeface="Arial" panose="020B0604020202020204" pitchFamily="34" charset="0"/>
              </a:rPr>
              <a:t>Excel EDA used to summarize counts by region and job role.</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Employees are mainly located in the USA and UK.</a:t>
            </a:r>
          </a:p>
          <a:p>
            <a:pPr algn="just">
              <a:lnSpc>
                <a:spcPct val="120000"/>
              </a:lnSpc>
            </a:pPr>
            <a:r>
              <a:rPr lang="en-IN" sz="4000" dirty="0">
                <a:latin typeface="Arial" panose="020B0604020202020204" pitchFamily="34" charset="0"/>
                <a:cs typeface="Arial" panose="020B0604020202020204" pitchFamily="34" charset="0"/>
              </a:rPr>
              <a:t>The majority of employees are Sales Representatives.</a:t>
            </a:r>
          </a:p>
          <a:p>
            <a:pPr algn="just">
              <a:lnSpc>
                <a:spcPct val="120000"/>
              </a:lnSpc>
            </a:pPr>
            <a:r>
              <a:rPr lang="en-IN" sz="4000" dirty="0">
                <a:latin typeface="Arial" panose="020B0604020202020204" pitchFamily="34" charset="0"/>
                <a:cs typeface="Arial" panose="020B0604020202020204" pitchFamily="34" charset="0"/>
              </a:rPr>
              <a:t>Very few employees occupy managerial or executive roles.</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Maintain a strong sales-focused workforce.</a:t>
            </a:r>
          </a:p>
          <a:p>
            <a:pPr algn="just">
              <a:lnSpc>
                <a:spcPct val="120000"/>
              </a:lnSpc>
            </a:pPr>
            <a:r>
              <a:rPr lang="en-IN" sz="4000" dirty="0">
                <a:latin typeface="Arial" panose="020B0604020202020204" pitchFamily="34" charset="0"/>
                <a:cs typeface="Arial" panose="020B0604020202020204" pitchFamily="34" charset="0"/>
              </a:rPr>
              <a:t>Evaluate the need for additional managerial and support roles as business grows.</a:t>
            </a:r>
          </a:p>
          <a:p>
            <a:pPr algn="just">
              <a:lnSpc>
                <a:spcPct val="120000"/>
              </a:lnSpc>
            </a:pPr>
            <a:r>
              <a:rPr lang="en-IN" sz="4000" dirty="0">
                <a:latin typeface="Arial" panose="020B0604020202020204" pitchFamily="34" charset="0"/>
                <a:cs typeface="Arial" panose="020B0604020202020204" pitchFamily="34" charset="0"/>
              </a:rPr>
              <a:t>Align hiring strategy with regional sales demand.</a:t>
            </a:r>
            <a:endParaRPr lang="en-IN" dirty="0"/>
          </a:p>
        </p:txBody>
      </p:sp>
    </p:spTree>
    <p:extLst>
      <p:ext uri="{BB962C8B-B14F-4D97-AF65-F5344CB8AC3E}">
        <p14:creationId xmlns:p14="http://schemas.microsoft.com/office/powerpoint/2010/main" val="2902118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417789" y="50483"/>
            <a:ext cx="550428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Employee Hiring Trends &amp; Tenure Patterns</a:t>
            </a:r>
            <a:endParaRPr lang="en-US" sz="2800" b="1" dirty="0">
              <a:solidFill>
                <a:schemeClr val="accent3">
                  <a:lumMod val="75000"/>
                </a:schemeClr>
              </a:solidFill>
              <a:latin typeface="+mj-lt"/>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 name="Picture 2">
            <a:extLst>
              <a:ext uri="{FF2B5EF4-FFF2-40B4-BE49-F238E27FC236}">
                <a16:creationId xmlns:a16="http://schemas.microsoft.com/office/drawing/2014/main" id="{47569C67-0F96-4009-B582-69D45CB16E28}"/>
              </a:ext>
            </a:extLst>
          </p:cNvPr>
          <p:cNvPicPr>
            <a:picLocks noChangeAspect="1"/>
          </p:cNvPicPr>
          <p:nvPr/>
        </p:nvPicPr>
        <p:blipFill>
          <a:blip r:embed="rId3"/>
          <a:stretch>
            <a:fillRect/>
          </a:stretch>
        </p:blipFill>
        <p:spPr>
          <a:xfrm>
            <a:off x="4512746" y="986523"/>
            <a:ext cx="6115761" cy="2806750"/>
          </a:xfrm>
          <a:prstGeom prst="rect">
            <a:avLst/>
          </a:prstGeom>
        </p:spPr>
      </p:pic>
      <p:pic>
        <p:nvPicPr>
          <p:cNvPr id="7" name="Picture 6">
            <a:extLst>
              <a:ext uri="{FF2B5EF4-FFF2-40B4-BE49-F238E27FC236}">
                <a16:creationId xmlns:a16="http://schemas.microsoft.com/office/drawing/2014/main" id="{7604AC9A-F6C8-48B4-BE09-5B97BB19E531}"/>
              </a:ext>
            </a:extLst>
          </p:cNvPr>
          <p:cNvPicPr>
            <a:picLocks noChangeAspect="1"/>
          </p:cNvPicPr>
          <p:nvPr/>
        </p:nvPicPr>
        <p:blipFill>
          <a:blip r:embed="rId4"/>
          <a:stretch>
            <a:fillRect/>
          </a:stretch>
        </p:blipFill>
        <p:spPr>
          <a:xfrm>
            <a:off x="385324" y="1630015"/>
            <a:ext cx="3905878" cy="4047176"/>
          </a:xfrm>
          <a:prstGeom prst="rect">
            <a:avLst/>
          </a:prstGeom>
        </p:spPr>
      </p:pic>
      <p:pic>
        <p:nvPicPr>
          <p:cNvPr id="13" name="Picture 12">
            <a:extLst>
              <a:ext uri="{FF2B5EF4-FFF2-40B4-BE49-F238E27FC236}">
                <a16:creationId xmlns:a16="http://schemas.microsoft.com/office/drawing/2014/main" id="{4341D6D8-D473-45EE-B294-AEEFF41031A3}"/>
              </a:ext>
            </a:extLst>
          </p:cNvPr>
          <p:cNvPicPr>
            <a:picLocks noChangeAspect="1"/>
          </p:cNvPicPr>
          <p:nvPr/>
        </p:nvPicPr>
        <p:blipFill>
          <a:blip r:embed="rId5"/>
          <a:stretch>
            <a:fillRect/>
          </a:stretch>
        </p:blipFill>
        <p:spPr>
          <a:xfrm>
            <a:off x="4512746" y="3848026"/>
            <a:ext cx="6205754" cy="2612327"/>
          </a:xfrm>
          <a:prstGeom prst="rect">
            <a:avLst/>
          </a:prstGeom>
        </p:spPr>
      </p:pic>
    </p:spTree>
    <p:extLst>
      <p:ext uri="{BB962C8B-B14F-4D97-AF65-F5344CB8AC3E}">
        <p14:creationId xmlns:p14="http://schemas.microsoft.com/office/powerpoint/2010/main" val="3829163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What trends can be observed in employee hiring over time across different job titles?</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Power BI used to visualize employee hire dates by year.</a:t>
            </a:r>
          </a:p>
          <a:p>
            <a:pPr algn="just">
              <a:lnSpc>
                <a:spcPct val="120000"/>
              </a:lnSpc>
            </a:pPr>
            <a:r>
              <a:rPr lang="en-IN" sz="4000" dirty="0">
                <a:latin typeface="Arial" panose="020B0604020202020204" pitchFamily="34" charset="0"/>
                <a:cs typeface="Arial" panose="020B0604020202020204" pitchFamily="34" charset="0"/>
              </a:rPr>
              <a:t>Excel EDA used to analyse hiring patterns across job titles.</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Senior roles were hired earlier and show long-term stability.</a:t>
            </a:r>
          </a:p>
          <a:p>
            <a:pPr algn="just">
              <a:lnSpc>
                <a:spcPct val="120000"/>
              </a:lnSpc>
            </a:pPr>
            <a:r>
              <a:rPr lang="en-IN" sz="4000" dirty="0">
                <a:latin typeface="Arial" panose="020B0604020202020204" pitchFamily="34" charset="0"/>
                <a:cs typeface="Arial" panose="020B0604020202020204" pitchFamily="34" charset="0"/>
              </a:rPr>
              <a:t>Sales Representative roles show continuous hiring over multiple years.</a:t>
            </a:r>
          </a:p>
          <a:p>
            <a:pPr algn="just">
              <a:lnSpc>
                <a:spcPct val="120000"/>
              </a:lnSpc>
            </a:pPr>
            <a:r>
              <a:rPr lang="en-IN" sz="4000" dirty="0">
                <a:latin typeface="Arial" panose="020B0604020202020204" pitchFamily="34" charset="0"/>
                <a:cs typeface="Arial" panose="020B0604020202020204" pitchFamily="34" charset="0"/>
              </a:rPr>
              <a:t>Indicates steady expansion of the sales workforce.</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Continue strengthening sales hiring aligned with business growth.</a:t>
            </a:r>
          </a:p>
          <a:p>
            <a:pPr algn="just">
              <a:lnSpc>
                <a:spcPct val="120000"/>
              </a:lnSpc>
            </a:pPr>
            <a:r>
              <a:rPr lang="en-IN" sz="4000" dirty="0">
                <a:latin typeface="Arial" panose="020B0604020202020204" pitchFamily="34" charset="0"/>
                <a:cs typeface="Arial" panose="020B0604020202020204" pitchFamily="34" charset="0"/>
              </a:rPr>
              <a:t>Plan leadership succession for long-tenured senior roles.</a:t>
            </a:r>
          </a:p>
          <a:p>
            <a:pPr algn="just">
              <a:lnSpc>
                <a:spcPct val="120000"/>
              </a:lnSpc>
            </a:pPr>
            <a:r>
              <a:rPr lang="en-IN" sz="4000" dirty="0">
                <a:latin typeface="Arial" panose="020B0604020202020204" pitchFamily="34" charset="0"/>
                <a:cs typeface="Arial" panose="020B0604020202020204" pitchFamily="34" charset="0"/>
              </a:rPr>
              <a:t>Use hiring trends to forecast future workforce needs.</a:t>
            </a:r>
            <a:endParaRPr lang="en-IN" dirty="0"/>
          </a:p>
        </p:txBody>
      </p:sp>
    </p:spTree>
    <p:extLst>
      <p:ext uri="{BB962C8B-B14F-4D97-AF65-F5344CB8AC3E}">
        <p14:creationId xmlns:p14="http://schemas.microsoft.com/office/powerpoint/2010/main" val="2876464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314568" y="522898"/>
            <a:ext cx="387743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92291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417789" y="50483"/>
            <a:ext cx="5504284" cy="861774"/>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Pricing, Inventory &amp; Sales Relationship</a:t>
            </a:r>
          </a:p>
        </p:txBody>
      </p:sp>
      <p:sp>
        <p:nvSpPr>
          <p:cNvPr id="52" name="Rectangle 51">
            <a:extLst>
              <a:ext uri="{FF2B5EF4-FFF2-40B4-BE49-F238E27FC236}">
                <a16:creationId xmlns:a16="http://schemas.microsoft.com/office/drawing/2014/main" id="{A8534162-B6E2-4579-9DAD-AD8DE07459BC}"/>
              </a:ext>
            </a:extLst>
          </p:cNvPr>
          <p:cNvSpPr/>
          <p:nvPr/>
        </p:nvSpPr>
        <p:spPr>
          <a:xfrm>
            <a:off x="3053182"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10" name="Picture 9">
            <a:extLst>
              <a:ext uri="{FF2B5EF4-FFF2-40B4-BE49-F238E27FC236}">
                <a16:creationId xmlns:a16="http://schemas.microsoft.com/office/drawing/2014/main" id="{57C46092-A5C6-4430-AA6F-347B13763BD1}"/>
              </a:ext>
            </a:extLst>
          </p:cNvPr>
          <p:cNvPicPr>
            <a:picLocks noChangeAspect="1"/>
          </p:cNvPicPr>
          <p:nvPr/>
        </p:nvPicPr>
        <p:blipFill>
          <a:blip r:embed="rId3"/>
          <a:stretch>
            <a:fillRect/>
          </a:stretch>
        </p:blipFill>
        <p:spPr>
          <a:xfrm>
            <a:off x="0" y="917084"/>
            <a:ext cx="12192000" cy="2758068"/>
          </a:xfrm>
          <a:prstGeom prst="rect">
            <a:avLst/>
          </a:prstGeom>
        </p:spPr>
      </p:pic>
      <p:pic>
        <p:nvPicPr>
          <p:cNvPr id="15" name="Picture 14">
            <a:extLst>
              <a:ext uri="{FF2B5EF4-FFF2-40B4-BE49-F238E27FC236}">
                <a16:creationId xmlns:a16="http://schemas.microsoft.com/office/drawing/2014/main" id="{622124DB-13BA-4264-9B67-E8C8B22128DC}"/>
              </a:ext>
            </a:extLst>
          </p:cNvPr>
          <p:cNvPicPr>
            <a:picLocks noChangeAspect="1"/>
          </p:cNvPicPr>
          <p:nvPr/>
        </p:nvPicPr>
        <p:blipFill>
          <a:blip r:embed="rId4"/>
          <a:stretch>
            <a:fillRect/>
          </a:stretch>
        </p:blipFill>
        <p:spPr>
          <a:xfrm>
            <a:off x="665104" y="3656399"/>
            <a:ext cx="3739113" cy="3135449"/>
          </a:xfrm>
          <a:prstGeom prst="rect">
            <a:avLst/>
          </a:prstGeom>
        </p:spPr>
      </p:pic>
      <p:pic>
        <p:nvPicPr>
          <p:cNvPr id="17" name="Picture 16">
            <a:extLst>
              <a:ext uri="{FF2B5EF4-FFF2-40B4-BE49-F238E27FC236}">
                <a16:creationId xmlns:a16="http://schemas.microsoft.com/office/drawing/2014/main" id="{0A6F6D45-96D0-4C57-9744-77CE72A3174F}"/>
              </a:ext>
            </a:extLst>
          </p:cNvPr>
          <p:cNvPicPr>
            <a:picLocks noChangeAspect="1"/>
          </p:cNvPicPr>
          <p:nvPr/>
        </p:nvPicPr>
        <p:blipFill>
          <a:blip r:embed="rId5"/>
          <a:stretch>
            <a:fillRect/>
          </a:stretch>
        </p:blipFill>
        <p:spPr>
          <a:xfrm>
            <a:off x="4404217" y="3743812"/>
            <a:ext cx="6953731" cy="3127020"/>
          </a:xfrm>
          <a:prstGeom prst="rect">
            <a:avLst/>
          </a:prstGeom>
        </p:spPr>
      </p:pic>
    </p:spTree>
    <p:extLst>
      <p:ext uri="{BB962C8B-B14F-4D97-AF65-F5344CB8AC3E}">
        <p14:creationId xmlns:p14="http://schemas.microsoft.com/office/powerpoint/2010/main" val="1304046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How do pricing and inventory levels influence sales performance, and are there abnormal products?</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Excel correlation and scatter plots.</a:t>
            </a:r>
          </a:p>
          <a:p>
            <a:pPr algn="just">
              <a:lnSpc>
                <a:spcPct val="120000"/>
              </a:lnSpc>
            </a:pPr>
            <a:r>
              <a:rPr lang="en-IN" sz="4000" dirty="0">
                <a:latin typeface="Arial" panose="020B0604020202020204" pitchFamily="34" charset="0"/>
                <a:cs typeface="Arial" panose="020B0604020202020204" pitchFamily="34" charset="0"/>
              </a:rPr>
              <a:t>Power BI product performance visuals</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Strong positive correlation between price and total sales.</a:t>
            </a:r>
          </a:p>
          <a:p>
            <a:pPr algn="just">
              <a:lnSpc>
                <a:spcPct val="120000"/>
              </a:lnSpc>
            </a:pPr>
            <a:r>
              <a:rPr lang="en-IN" sz="4000" dirty="0">
                <a:latin typeface="Arial" panose="020B0604020202020204" pitchFamily="34" charset="0"/>
                <a:cs typeface="Arial" panose="020B0604020202020204" pitchFamily="34" charset="0"/>
              </a:rPr>
              <a:t>Weak relationship between stock levels and sales.</a:t>
            </a:r>
          </a:p>
          <a:p>
            <a:pPr algn="just">
              <a:lnSpc>
                <a:spcPct val="120000"/>
              </a:lnSpc>
            </a:pPr>
            <a:r>
              <a:rPr lang="en-IN" sz="4000" dirty="0">
                <a:latin typeface="Arial" panose="020B0604020202020204" pitchFamily="34" charset="0"/>
                <a:cs typeface="Arial" panose="020B0604020202020204" pitchFamily="34" charset="0"/>
              </a:rPr>
              <a:t>Few products generate extremely high revenue (outliers).</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Focus on premium-priced high performers.</a:t>
            </a:r>
          </a:p>
          <a:p>
            <a:pPr algn="just">
              <a:lnSpc>
                <a:spcPct val="120000"/>
              </a:lnSpc>
            </a:pPr>
            <a:r>
              <a:rPr lang="en-IN" sz="4000" dirty="0">
                <a:latin typeface="Arial" panose="020B0604020202020204" pitchFamily="34" charset="0"/>
                <a:cs typeface="Arial" panose="020B0604020202020204" pitchFamily="34" charset="0"/>
              </a:rPr>
              <a:t>Reassess low-impact products.</a:t>
            </a:r>
          </a:p>
          <a:p>
            <a:pPr algn="just">
              <a:lnSpc>
                <a:spcPct val="120000"/>
              </a:lnSpc>
            </a:pPr>
            <a:r>
              <a:rPr lang="en-IN" sz="4000" dirty="0">
                <a:latin typeface="Arial" panose="020B0604020202020204" pitchFamily="34" charset="0"/>
                <a:cs typeface="Arial" panose="020B0604020202020204" pitchFamily="34" charset="0"/>
              </a:rPr>
              <a:t>Avoid excess stocking of poor sellers</a:t>
            </a:r>
            <a:endParaRPr lang="en-IN" dirty="0"/>
          </a:p>
        </p:txBody>
      </p:sp>
    </p:spTree>
    <p:extLst>
      <p:ext uri="{BB962C8B-B14F-4D97-AF65-F5344CB8AC3E}">
        <p14:creationId xmlns:p14="http://schemas.microsoft.com/office/powerpoint/2010/main" val="131670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493040" y="534519"/>
            <a:ext cx="369896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34519"/>
            <a:ext cx="372386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343857" y="236424"/>
            <a:ext cx="5504284" cy="430887"/>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Supplier &amp; Regional Pricing</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6" name="Picture 5">
            <a:extLst>
              <a:ext uri="{FF2B5EF4-FFF2-40B4-BE49-F238E27FC236}">
                <a16:creationId xmlns:a16="http://schemas.microsoft.com/office/drawing/2014/main" id="{6C0107E1-E9BA-4C37-B9A5-BFB3D3D091A0}"/>
              </a:ext>
            </a:extLst>
          </p:cNvPr>
          <p:cNvPicPr>
            <a:picLocks noChangeAspect="1"/>
          </p:cNvPicPr>
          <p:nvPr/>
        </p:nvPicPr>
        <p:blipFill>
          <a:blip r:embed="rId3"/>
          <a:stretch>
            <a:fillRect/>
          </a:stretch>
        </p:blipFill>
        <p:spPr>
          <a:xfrm>
            <a:off x="3858269" y="822678"/>
            <a:ext cx="8073220" cy="2504282"/>
          </a:xfrm>
          <a:prstGeom prst="rect">
            <a:avLst/>
          </a:prstGeom>
        </p:spPr>
      </p:pic>
      <p:pic>
        <p:nvPicPr>
          <p:cNvPr id="16" name="Picture 15">
            <a:extLst>
              <a:ext uri="{FF2B5EF4-FFF2-40B4-BE49-F238E27FC236}">
                <a16:creationId xmlns:a16="http://schemas.microsoft.com/office/drawing/2014/main" id="{0B28B2D5-0526-4800-B717-9FE651E1E252}"/>
              </a:ext>
            </a:extLst>
          </p:cNvPr>
          <p:cNvPicPr>
            <a:picLocks noChangeAspect="1"/>
          </p:cNvPicPr>
          <p:nvPr/>
        </p:nvPicPr>
        <p:blipFill>
          <a:blip r:embed="rId4"/>
          <a:stretch>
            <a:fillRect/>
          </a:stretch>
        </p:blipFill>
        <p:spPr>
          <a:xfrm>
            <a:off x="162172" y="832615"/>
            <a:ext cx="3608608" cy="5602839"/>
          </a:xfrm>
          <a:prstGeom prst="rect">
            <a:avLst/>
          </a:prstGeom>
        </p:spPr>
      </p:pic>
      <p:pic>
        <p:nvPicPr>
          <p:cNvPr id="19" name="Picture 18">
            <a:extLst>
              <a:ext uri="{FF2B5EF4-FFF2-40B4-BE49-F238E27FC236}">
                <a16:creationId xmlns:a16="http://schemas.microsoft.com/office/drawing/2014/main" id="{AF6511AC-A2E8-43F7-B6C2-8D76A820E500}"/>
              </a:ext>
            </a:extLst>
          </p:cNvPr>
          <p:cNvPicPr>
            <a:picLocks noChangeAspect="1"/>
          </p:cNvPicPr>
          <p:nvPr/>
        </p:nvPicPr>
        <p:blipFill>
          <a:blip r:embed="rId5"/>
          <a:stretch>
            <a:fillRect/>
          </a:stretch>
        </p:blipFill>
        <p:spPr>
          <a:xfrm>
            <a:off x="4214933" y="3586998"/>
            <a:ext cx="4713748" cy="2930788"/>
          </a:xfrm>
          <a:prstGeom prst="rect">
            <a:avLst/>
          </a:prstGeom>
        </p:spPr>
      </p:pic>
    </p:spTree>
    <p:extLst>
      <p:ext uri="{BB962C8B-B14F-4D97-AF65-F5344CB8AC3E}">
        <p14:creationId xmlns:p14="http://schemas.microsoft.com/office/powerpoint/2010/main" val="2277996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493040" y="534519"/>
            <a:ext cx="369896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3922913" y="189597"/>
            <a:ext cx="4489908"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34519"/>
            <a:ext cx="372386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F19BFA5-D0CA-4CF0-8499-504D956B6563}"/>
              </a:ext>
            </a:extLst>
          </p:cNvPr>
          <p:cNvSpPr/>
          <p:nvPr/>
        </p:nvSpPr>
        <p:spPr>
          <a:xfrm>
            <a:off x="1076604" y="2886560"/>
            <a:ext cx="1371600" cy="492443"/>
          </a:xfrm>
          <a:prstGeom prst="rect">
            <a:avLst/>
          </a:prstGeom>
        </p:spPr>
        <p:txBody>
          <a:bodyPr wrap="square" lIns="0" tIns="0" rIns="0" bIns="0">
            <a:spAutoFit/>
          </a:bodyPr>
          <a:lstStyle/>
          <a:p>
            <a:pPr algn="ctr"/>
            <a:r>
              <a:rPr lang="en-US" sz="1600" b="1" dirty="0">
                <a:solidFill>
                  <a:schemeClr val="bg1"/>
                </a:solidFill>
              </a:rPr>
              <a:t>MARKET ANALYSIS</a:t>
            </a:r>
          </a:p>
        </p:txBody>
      </p:sp>
      <p:sp>
        <p:nvSpPr>
          <p:cNvPr id="49" name="Rectangle 48">
            <a:extLst>
              <a:ext uri="{FF2B5EF4-FFF2-40B4-BE49-F238E27FC236}">
                <a16:creationId xmlns:a16="http://schemas.microsoft.com/office/drawing/2014/main" id="{54AB9282-0505-49EB-AABF-998083225E3A}"/>
              </a:ext>
            </a:extLst>
          </p:cNvPr>
          <p:cNvSpPr/>
          <p:nvPr/>
        </p:nvSpPr>
        <p:spPr>
          <a:xfrm>
            <a:off x="7577000" y="2886560"/>
            <a:ext cx="1371600" cy="492443"/>
          </a:xfrm>
          <a:prstGeom prst="rect">
            <a:avLst/>
          </a:prstGeom>
        </p:spPr>
        <p:txBody>
          <a:bodyPr wrap="square" lIns="0" tIns="0" rIns="0" bIns="0">
            <a:spAutoFit/>
          </a:bodyPr>
          <a:lstStyle/>
          <a:p>
            <a:pPr algn="ctr"/>
            <a:r>
              <a:rPr lang="en-US" sz="1600" b="1" dirty="0">
                <a:solidFill>
                  <a:schemeClr val="bg1"/>
                </a:solidFill>
              </a:rPr>
              <a:t>ECONOMIC ANALYSIS</a:t>
            </a:r>
          </a:p>
        </p:txBody>
      </p:sp>
      <p:sp>
        <p:nvSpPr>
          <p:cNvPr id="50" name="Rectangle 49">
            <a:extLst>
              <a:ext uri="{FF2B5EF4-FFF2-40B4-BE49-F238E27FC236}">
                <a16:creationId xmlns:a16="http://schemas.microsoft.com/office/drawing/2014/main" id="{D668C4B5-BCEC-465A-ADA5-6A054B15F7A3}"/>
              </a:ext>
            </a:extLst>
          </p:cNvPr>
          <p:cNvSpPr/>
          <p:nvPr/>
        </p:nvSpPr>
        <p:spPr>
          <a:xfrm>
            <a:off x="9745956" y="2886560"/>
            <a:ext cx="1371600" cy="492443"/>
          </a:xfrm>
          <a:prstGeom prst="rect">
            <a:avLst/>
          </a:prstGeom>
        </p:spPr>
        <p:txBody>
          <a:bodyPr wrap="square" lIns="0" tIns="0" rIns="0" bIns="0">
            <a:spAutoFit/>
          </a:bodyPr>
          <a:lstStyle/>
          <a:p>
            <a:pPr algn="ctr"/>
            <a:r>
              <a:rPr lang="en-US" sz="1600" b="1" dirty="0">
                <a:solidFill>
                  <a:schemeClr val="bg1"/>
                </a:solidFill>
              </a:rPr>
              <a:t>ECOLOGICAL ANALYSIS</a:t>
            </a:r>
          </a:p>
        </p:txBody>
      </p:sp>
      <p:sp>
        <p:nvSpPr>
          <p:cNvPr id="51" name="Rectangle 50">
            <a:extLst>
              <a:ext uri="{FF2B5EF4-FFF2-40B4-BE49-F238E27FC236}">
                <a16:creationId xmlns:a16="http://schemas.microsoft.com/office/drawing/2014/main" id="{8AA18108-5B8B-4147-84A7-D30A16BEC4EA}"/>
              </a:ext>
            </a:extLst>
          </p:cNvPr>
          <p:cNvSpPr/>
          <p:nvPr/>
        </p:nvSpPr>
        <p:spPr>
          <a:xfrm>
            <a:off x="3343857" y="236424"/>
            <a:ext cx="5504284" cy="430887"/>
          </a:xfrm>
          <a:prstGeom prst="rect">
            <a:avLst/>
          </a:prstGeom>
        </p:spPr>
        <p:txBody>
          <a:bodyPr wrap="square" lIns="0" tIns="0" rIns="0" bIns="0" anchor="t">
            <a:spAutoFit/>
          </a:bodyPr>
          <a:lstStyle/>
          <a:p>
            <a:pPr algn="ctr"/>
            <a:r>
              <a:rPr lang="en-IN" sz="2800" b="1" dirty="0">
                <a:solidFill>
                  <a:schemeClr val="accent3">
                    <a:lumMod val="75000"/>
                  </a:schemeClr>
                </a:solidFill>
                <a:latin typeface="+mj-lt"/>
              </a:rPr>
              <a:t>Supplier &amp; Regional Pricing</a:t>
            </a:r>
          </a:p>
        </p:txBody>
      </p:sp>
      <p:sp>
        <p:nvSpPr>
          <p:cNvPr id="54" name="Rectangle 53">
            <a:extLst>
              <a:ext uri="{FF2B5EF4-FFF2-40B4-BE49-F238E27FC236}">
                <a16:creationId xmlns:a16="http://schemas.microsoft.com/office/drawing/2014/main" id="{28FF18A5-7B4E-4493-B38D-E732E033F82F}"/>
              </a:ext>
            </a:extLst>
          </p:cNvPr>
          <p:cNvSpPr/>
          <p:nvPr/>
        </p:nvSpPr>
        <p:spPr>
          <a:xfrm>
            <a:off x="7386779" y="3653603"/>
            <a:ext cx="1752042" cy="1441677"/>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Lorem ipsum dolor sit amet, consectetur adipiscing elit, sed do eiusmod tempor incididunt ut labore et dolore magna aliqua. </a:t>
            </a:r>
          </a:p>
        </p:txBody>
      </p:sp>
      <p:sp>
        <p:nvSpPr>
          <p:cNvPr id="56" name="Freeform 4197" descr="Icon of shopping cart.">
            <a:extLst>
              <a:ext uri="{FF2B5EF4-FFF2-40B4-BE49-F238E27FC236}">
                <a16:creationId xmlns:a16="http://schemas.microsoft.com/office/drawing/2014/main" id="{DEC447B3-FDD1-438D-A671-84CC56DF3DFC}"/>
              </a:ext>
            </a:extLst>
          </p:cNvPr>
          <p:cNvSpPr>
            <a:spLocks noEditPoints="1"/>
          </p:cNvSpPr>
          <p:nvPr/>
        </p:nvSpPr>
        <p:spPr bwMode="auto">
          <a:xfrm>
            <a:off x="1572237" y="2313021"/>
            <a:ext cx="380334" cy="348640"/>
          </a:xfrm>
          <a:custGeom>
            <a:avLst/>
            <a:gdLst>
              <a:gd name="T0" fmla="*/ 540 w 901"/>
              <a:gd name="T1" fmla="*/ 161 h 826"/>
              <a:gd name="T2" fmla="*/ 360 w 901"/>
              <a:gd name="T3" fmla="*/ 255 h 826"/>
              <a:gd name="T4" fmla="*/ 360 w 901"/>
              <a:gd name="T5" fmla="*/ 255 h 826"/>
              <a:gd name="T6" fmla="*/ 201 w 901"/>
              <a:gd name="T7" fmla="*/ 255 h 826"/>
              <a:gd name="T8" fmla="*/ 749 w 901"/>
              <a:gd name="T9" fmla="*/ 46 h 826"/>
              <a:gd name="T10" fmla="*/ 692 w 901"/>
              <a:gd name="T11" fmla="*/ 248 h 826"/>
              <a:gd name="T12" fmla="*/ 568 w 901"/>
              <a:gd name="T13" fmla="*/ 103 h 826"/>
              <a:gd name="T14" fmla="*/ 556 w 901"/>
              <a:gd name="T15" fmla="*/ 104 h 826"/>
              <a:gd name="T16" fmla="*/ 341 w 901"/>
              <a:gd name="T17" fmla="*/ 135 h 826"/>
              <a:gd name="T18" fmla="*/ 333 w 901"/>
              <a:gd name="T19" fmla="*/ 141 h 826"/>
              <a:gd name="T20" fmla="*/ 330 w 901"/>
              <a:gd name="T21" fmla="*/ 255 h 826"/>
              <a:gd name="T22" fmla="*/ 120 w 901"/>
              <a:gd name="T23" fmla="*/ 4 h 826"/>
              <a:gd name="T24" fmla="*/ 109 w 901"/>
              <a:gd name="T25" fmla="*/ 0 h 826"/>
              <a:gd name="T26" fmla="*/ 5 w 901"/>
              <a:gd name="T27" fmla="*/ 48 h 826"/>
              <a:gd name="T28" fmla="*/ 0 w 901"/>
              <a:gd name="T29" fmla="*/ 58 h 826"/>
              <a:gd name="T30" fmla="*/ 82 w 901"/>
              <a:gd name="T31" fmla="*/ 255 h 826"/>
              <a:gd name="T32" fmla="*/ 5 w 901"/>
              <a:gd name="T33" fmla="*/ 259 h 826"/>
              <a:gd name="T34" fmla="*/ 0 w 901"/>
              <a:gd name="T35" fmla="*/ 271 h 826"/>
              <a:gd name="T36" fmla="*/ 120 w 901"/>
              <a:gd name="T37" fmla="*/ 643 h 826"/>
              <a:gd name="T38" fmla="*/ 589 w 901"/>
              <a:gd name="T39" fmla="*/ 676 h 826"/>
              <a:gd name="T40" fmla="*/ 157 w 901"/>
              <a:gd name="T41" fmla="*/ 679 h 826"/>
              <a:gd name="T42" fmla="*/ 131 w 901"/>
              <a:gd name="T43" fmla="*/ 693 h 826"/>
              <a:gd name="T44" fmla="*/ 113 w 901"/>
              <a:gd name="T45" fmla="*/ 716 h 826"/>
              <a:gd name="T46" fmla="*/ 105 w 901"/>
              <a:gd name="T47" fmla="*/ 744 h 826"/>
              <a:gd name="T48" fmla="*/ 108 w 901"/>
              <a:gd name="T49" fmla="*/ 774 h 826"/>
              <a:gd name="T50" fmla="*/ 122 w 901"/>
              <a:gd name="T51" fmla="*/ 798 h 826"/>
              <a:gd name="T52" fmla="*/ 144 w 901"/>
              <a:gd name="T53" fmla="*/ 818 h 826"/>
              <a:gd name="T54" fmla="*/ 172 w 901"/>
              <a:gd name="T55" fmla="*/ 826 h 826"/>
              <a:gd name="T56" fmla="*/ 202 w 901"/>
              <a:gd name="T57" fmla="*/ 823 h 826"/>
              <a:gd name="T58" fmla="*/ 228 w 901"/>
              <a:gd name="T59" fmla="*/ 809 h 826"/>
              <a:gd name="T60" fmla="*/ 246 w 901"/>
              <a:gd name="T61" fmla="*/ 787 h 826"/>
              <a:gd name="T62" fmla="*/ 255 w 901"/>
              <a:gd name="T63" fmla="*/ 759 h 826"/>
              <a:gd name="T64" fmla="*/ 246 w 901"/>
              <a:gd name="T65" fmla="*/ 716 h 826"/>
              <a:gd name="T66" fmla="*/ 514 w 901"/>
              <a:gd name="T67" fmla="*/ 727 h 826"/>
              <a:gd name="T68" fmla="*/ 512 w 901"/>
              <a:gd name="T69" fmla="*/ 766 h 826"/>
              <a:gd name="T70" fmla="*/ 523 w 901"/>
              <a:gd name="T71" fmla="*/ 793 h 826"/>
              <a:gd name="T72" fmla="*/ 543 w 901"/>
              <a:gd name="T73" fmla="*/ 813 h 826"/>
              <a:gd name="T74" fmla="*/ 570 w 901"/>
              <a:gd name="T75" fmla="*/ 825 h 826"/>
              <a:gd name="T76" fmla="*/ 601 w 901"/>
              <a:gd name="T77" fmla="*/ 825 h 826"/>
              <a:gd name="T78" fmla="*/ 628 w 901"/>
              <a:gd name="T79" fmla="*/ 813 h 826"/>
              <a:gd name="T80" fmla="*/ 648 w 901"/>
              <a:gd name="T81" fmla="*/ 793 h 826"/>
              <a:gd name="T82" fmla="*/ 659 w 901"/>
              <a:gd name="T83" fmla="*/ 766 h 826"/>
              <a:gd name="T84" fmla="*/ 658 w 901"/>
              <a:gd name="T85" fmla="*/ 730 h 826"/>
              <a:gd name="T86" fmla="*/ 635 w 901"/>
              <a:gd name="T87" fmla="*/ 695 h 826"/>
              <a:gd name="T88" fmla="*/ 630 w 901"/>
              <a:gd name="T89" fmla="*/ 635 h 826"/>
              <a:gd name="T90" fmla="*/ 886 w 901"/>
              <a:gd name="T91" fmla="*/ 75 h 826"/>
              <a:gd name="T92" fmla="*/ 897 w 901"/>
              <a:gd name="T93" fmla="*/ 70 h 826"/>
              <a:gd name="T94" fmla="*/ 901 w 901"/>
              <a:gd name="T95" fmla="*/ 60 h 826"/>
              <a:gd name="T96" fmla="*/ 897 w 901"/>
              <a:gd name="T97" fmla="*/ 49 h 826"/>
              <a:gd name="T98" fmla="*/ 886 w 901"/>
              <a:gd name="T99" fmla="*/ 45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01" h="826">
                <a:moveTo>
                  <a:pt x="442" y="255"/>
                </a:moveTo>
                <a:lnTo>
                  <a:pt x="540" y="161"/>
                </a:lnTo>
                <a:lnTo>
                  <a:pt x="540" y="161"/>
                </a:lnTo>
                <a:lnTo>
                  <a:pt x="540" y="161"/>
                </a:lnTo>
                <a:lnTo>
                  <a:pt x="562" y="139"/>
                </a:lnTo>
                <a:lnTo>
                  <a:pt x="659" y="255"/>
                </a:lnTo>
                <a:lnTo>
                  <a:pt x="442" y="255"/>
                </a:lnTo>
                <a:close/>
                <a:moveTo>
                  <a:pt x="360" y="255"/>
                </a:moveTo>
                <a:lnTo>
                  <a:pt x="360" y="165"/>
                </a:lnTo>
                <a:lnTo>
                  <a:pt x="493" y="165"/>
                </a:lnTo>
                <a:lnTo>
                  <a:pt x="399" y="255"/>
                </a:lnTo>
                <a:lnTo>
                  <a:pt x="360" y="255"/>
                </a:lnTo>
                <a:close/>
                <a:moveTo>
                  <a:pt x="114" y="255"/>
                </a:moveTo>
                <a:lnTo>
                  <a:pt x="34" y="67"/>
                </a:lnTo>
                <a:lnTo>
                  <a:pt x="101" y="35"/>
                </a:lnTo>
                <a:lnTo>
                  <a:pt x="201" y="255"/>
                </a:lnTo>
                <a:lnTo>
                  <a:pt x="114" y="255"/>
                </a:lnTo>
                <a:close/>
                <a:moveTo>
                  <a:pt x="886" y="45"/>
                </a:moveTo>
                <a:lnTo>
                  <a:pt x="753" y="45"/>
                </a:lnTo>
                <a:lnTo>
                  <a:pt x="749" y="46"/>
                </a:lnTo>
                <a:lnTo>
                  <a:pt x="745" y="48"/>
                </a:lnTo>
                <a:lnTo>
                  <a:pt x="740" y="51"/>
                </a:lnTo>
                <a:lnTo>
                  <a:pt x="739" y="57"/>
                </a:lnTo>
                <a:lnTo>
                  <a:pt x="692" y="248"/>
                </a:lnTo>
                <a:lnTo>
                  <a:pt x="575" y="107"/>
                </a:lnTo>
                <a:lnTo>
                  <a:pt x="573" y="105"/>
                </a:lnTo>
                <a:lnTo>
                  <a:pt x="571" y="104"/>
                </a:lnTo>
                <a:lnTo>
                  <a:pt x="568" y="103"/>
                </a:lnTo>
                <a:lnTo>
                  <a:pt x="564" y="102"/>
                </a:lnTo>
                <a:lnTo>
                  <a:pt x="561" y="102"/>
                </a:lnTo>
                <a:lnTo>
                  <a:pt x="559" y="103"/>
                </a:lnTo>
                <a:lnTo>
                  <a:pt x="556" y="104"/>
                </a:lnTo>
                <a:lnTo>
                  <a:pt x="554" y="106"/>
                </a:lnTo>
                <a:lnTo>
                  <a:pt x="524" y="135"/>
                </a:lnTo>
                <a:lnTo>
                  <a:pt x="345" y="135"/>
                </a:lnTo>
                <a:lnTo>
                  <a:pt x="341" y="135"/>
                </a:lnTo>
                <a:lnTo>
                  <a:pt x="339" y="136"/>
                </a:lnTo>
                <a:lnTo>
                  <a:pt x="336" y="138"/>
                </a:lnTo>
                <a:lnTo>
                  <a:pt x="334" y="139"/>
                </a:lnTo>
                <a:lnTo>
                  <a:pt x="333" y="141"/>
                </a:lnTo>
                <a:lnTo>
                  <a:pt x="331" y="144"/>
                </a:lnTo>
                <a:lnTo>
                  <a:pt x="331" y="147"/>
                </a:lnTo>
                <a:lnTo>
                  <a:pt x="330" y="150"/>
                </a:lnTo>
                <a:lnTo>
                  <a:pt x="330" y="255"/>
                </a:lnTo>
                <a:lnTo>
                  <a:pt x="234" y="255"/>
                </a:lnTo>
                <a:lnTo>
                  <a:pt x="123" y="8"/>
                </a:lnTo>
                <a:lnTo>
                  <a:pt x="122" y="6"/>
                </a:lnTo>
                <a:lnTo>
                  <a:pt x="120" y="4"/>
                </a:lnTo>
                <a:lnTo>
                  <a:pt x="117" y="2"/>
                </a:lnTo>
                <a:lnTo>
                  <a:pt x="114" y="1"/>
                </a:lnTo>
                <a:lnTo>
                  <a:pt x="111" y="0"/>
                </a:lnTo>
                <a:lnTo>
                  <a:pt x="109" y="0"/>
                </a:lnTo>
                <a:lnTo>
                  <a:pt x="106" y="0"/>
                </a:lnTo>
                <a:lnTo>
                  <a:pt x="102" y="1"/>
                </a:lnTo>
                <a:lnTo>
                  <a:pt x="8" y="46"/>
                </a:lnTo>
                <a:lnTo>
                  <a:pt x="5" y="48"/>
                </a:lnTo>
                <a:lnTo>
                  <a:pt x="3" y="50"/>
                </a:lnTo>
                <a:lnTo>
                  <a:pt x="2" y="52"/>
                </a:lnTo>
                <a:lnTo>
                  <a:pt x="1" y="54"/>
                </a:lnTo>
                <a:lnTo>
                  <a:pt x="0" y="58"/>
                </a:lnTo>
                <a:lnTo>
                  <a:pt x="0" y="60"/>
                </a:lnTo>
                <a:lnTo>
                  <a:pt x="0" y="63"/>
                </a:lnTo>
                <a:lnTo>
                  <a:pt x="1" y="66"/>
                </a:lnTo>
                <a:lnTo>
                  <a:pt x="82" y="255"/>
                </a:lnTo>
                <a:lnTo>
                  <a:pt x="15" y="255"/>
                </a:lnTo>
                <a:lnTo>
                  <a:pt x="11" y="256"/>
                </a:lnTo>
                <a:lnTo>
                  <a:pt x="7" y="257"/>
                </a:lnTo>
                <a:lnTo>
                  <a:pt x="5" y="259"/>
                </a:lnTo>
                <a:lnTo>
                  <a:pt x="2" y="261"/>
                </a:lnTo>
                <a:lnTo>
                  <a:pt x="1" y="265"/>
                </a:lnTo>
                <a:lnTo>
                  <a:pt x="0" y="268"/>
                </a:lnTo>
                <a:lnTo>
                  <a:pt x="0" y="271"/>
                </a:lnTo>
                <a:lnTo>
                  <a:pt x="1" y="275"/>
                </a:lnTo>
                <a:lnTo>
                  <a:pt x="114" y="635"/>
                </a:lnTo>
                <a:lnTo>
                  <a:pt x="116" y="640"/>
                </a:lnTo>
                <a:lnTo>
                  <a:pt x="120" y="643"/>
                </a:lnTo>
                <a:lnTo>
                  <a:pt x="123" y="645"/>
                </a:lnTo>
                <a:lnTo>
                  <a:pt x="128" y="646"/>
                </a:lnTo>
                <a:lnTo>
                  <a:pt x="596" y="646"/>
                </a:lnTo>
                <a:lnTo>
                  <a:pt x="589" y="676"/>
                </a:lnTo>
                <a:lnTo>
                  <a:pt x="180" y="676"/>
                </a:lnTo>
                <a:lnTo>
                  <a:pt x="172" y="676"/>
                </a:lnTo>
                <a:lnTo>
                  <a:pt x="165" y="677"/>
                </a:lnTo>
                <a:lnTo>
                  <a:pt x="157" y="679"/>
                </a:lnTo>
                <a:lnTo>
                  <a:pt x="151" y="682"/>
                </a:lnTo>
                <a:lnTo>
                  <a:pt x="144" y="685"/>
                </a:lnTo>
                <a:lnTo>
                  <a:pt x="138" y="689"/>
                </a:lnTo>
                <a:lnTo>
                  <a:pt x="131" y="693"/>
                </a:lnTo>
                <a:lnTo>
                  <a:pt x="127" y="698"/>
                </a:lnTo>
                <a:lnTo>
                  <a:pt x="122" y="703"/>
                </a:lnTo>
                <a:lnTo>
                  <a:pt x="117" y="709"/>
                </a:lnTo>
                <a:lnTo>
                  <a:pt x="113" y="716"/>
                </a:lnTo>
                <a:lnTo>
                  <a:pt x="110" y="722"/>
                </a:lnTo>
                <a:lnTo>
                  <a:pt x="108" y="729"/>
                </a:lnTo>
                <a:lnTo>
                  <a:pt x="106" y="736"/>
                </a:lnTo>
                <a:lnTo>
                  <a:pt x="105" y="744"/>
                </a:lnTo>
                <a:lnTo>
                  <a:pt x="105" y="751"/>
                </a:lnTo>
                <a:lnTo>
                  <a:pt x="105" y="759"/>
                </a:lnTo>
                <a:lnTo>
                  <a:pt x="106" y="766"/>
                </a:lnTo>
                <a:lnTo>
                  <a:pt x="108" y="774"/>
                </a:lnTo>
                <a:lnTo>
                  <a:pt x="110" y="780"/>
                </a:lnTo>
                <a:lnTo>
                  <a:pt x="113" y="787"/>
                </a:lnTo>
                <a:lnTo>
                  <a:pt x="117" y="793"/>
                </a:lnTo>
                <a:lnTo>
                  <a:pt x="122" y="798"/>
                </a:lnTo>
                <a:lnTo>
                  <a:pt x="127" y="804"/>
                </a:lnTo>
                <a:lnTo>
                  <a:pt x="131" y="809"/>
                </a:lnTo>
                <a:lnTo>
                  <a:pt x="138" y="813"/>
                </a:lnTo>
                <a:lnTo>
                  <a:pt x="144" y="818"/>
                </a:lnTo>
                <a:lnTo>
                  <a:pt x="151" y="821"/>
                </a:lnTo>
                <a:lnTo>
                  <a:pt x="157" y="823"/>
                </a:lnTo>
                <a:lnTo>
                  <a:pt x="165" y="825"/>
                </a:lnTo>
                <a:lnTo>
                  <a:pt x="172" y="826"/>
                </a:lnTo>
                <a:lnTo>
                  <a:pt x="180" y="826"/>
                </a:lnTo>
                <a:lnTo>
                  <a:pt x="187" y="826"/>
                </a:lnTo>
                <a:lnTo>
                  <a:pt x="195" y="825"/>
                </a:lnTo>
                <a:lnTo>
                  <a:pt x="202" y="823"/>
                </a:lnTo>
                <a:lnTo>
                  <a:pt x="209" y="821"/>
                </a:lnTo>
                <a:lnTo>
                  <a:pt x="215" y="818"/>
                </a:lnTo>
                <a:lnTo>
                  <a:pt x="221" y="813"/>
                </a:lnTo>
                <a:lnTo>
                  <a:pt x="228" y="809"/>
                </a:lnTo>
                <a:lnTo>
                  <a:pt x="233" y="804"/>
                </a:lnTo>
                <a:lnTo>
                  <a:pt x="238" y="798"/>
                </a:lnTo>
                <a:lnTo>
                  <a:pt x="242" y="793"/>
                </a:lnTo>
                <a:lnTo>
                  <a:pt x="246" y="787"/>
                </a:lnTo>
                <a:lnTo>
                  <a:pt x="249" y="780"/>
                </a:lnTo>
                <a:lnTo>
                  <a:pt x="251" y="774"/>
                </a:lnTo>
                <a:lnTo>
                  <a:pt x="254" y="766"/>
                </a:lnTo>
                <a:lnTo>
                  <a:pt x="255" y="759"/>
                </a:lnTo>
                <a:lnTo>
                  <a:pt x="255" y="751"/>
                </a:lnTo>
                <a:lnTo>
                  <a:pt x="254" y="738"/>
                </a:lnTo>
                <a:lnTo>
                  <a:pt x="250" y="727"/>
                </a:lnTo>
                <a:lnTo>
                  <a:pt x="246" y="716"/>
                </a:lnTo>
                <a:lnTo>
                  <a:pt x="240" y="706"/>
                </a:lnTo>
                <a:lnTo>
                  <a:pt x="526" y="706"/>
                </a:lnTo>
                <a:lnTo>
                  <a:pt x="519" y="716"/>
                </a:lnTo>
                <a:lnTo>
                  <a:pt x="514" y="727"/>
                </a:lnTo>
                <a:lnTo>
                  <a:pt x="511" y="738"/>
                </a:lnTo>
                <a:lnTo>
                  <a:pt x="510" y="751"/>
                </a:lnTo>
                <a:lnTo>
                  <a:pt x="511" y="759"/>
                </a:lnTo>
                <a:lnTo>
                  <a:pt x="512" y="766"/>
                </a:lnTo>
                <a:lnTo>
                  <a:pt x="514" y="774"/>
                </a:lnTo>
                <a:lnTo>
                  <a:pt x="516" y="780"/>
                </a:lnTo>
                <a:lnTo>
                  <a:pt x="519" y="787"/>
                </a:lnTo>
                <a:lnTo>
                  <a:pt x="523" y="793"/>
                </a:lnTo>
                <a:lnTo>
                  <a:pt x="528" y="798"/>
                </a:lnTo>
                <a:lnTo>
                  <a:pt x="532" y="804"/>
                </a:lnTo>
                <a:lnTo>
                  <a:pt x="538" y="809"/>
                </a:lnTo>
                <a:lnTo>
                  <a:pt x="543" y="813"/>
                </a:lnTo>
                <a:lnTo>
                  <a:pt x="549" y="818"/>
                </a:lnTo>
                <a:lnTo>
                  <a:pt x="556" y="821"/>
                </a:lnTo>
                <a:lnTo>
                  <a:pt x="563" y="823"/>
                </a:lnTo>
                <a:lnTo>
                  <a:pt x="570" y="825"/>
                </a:lnTo>
                <a:lnTo>
                  <a:pt x="577" y="826"/>
                </a:lnTo>
                <a:lnTo>
                  <a:pt x="586" y="826"/>
                </a:lnTo>
                <a:lnTo>
                  <a:pt x="593" y="826"/>
                </a:lnTo>
                <a:lnTo>
                  <a:pt x="601" y="825"/>
                </a:lnTo>
                <a:lnTo>
                  <a:pt x="607" y="823"/>
                </a:lnTo>
                <a:lnTo>
                  <a:pt x="615" y="821"/>
                </a:lnTo>
                <a:lnTo>
                  <a:pt x="621" y="818"/>
                </a:lnTo>
                <a:lnTo>
                  <a:pt x="628" y="813"/>
                </a:lnTo>
                <a:lnTo>
                  <a:pt x="633" y="809"/>
                </a:lnTo>
                <a:lnTo>
                  <a:pt x="638" y="804"/>
                </a:lnTo>
                <a:lnTo>
                  <a:pt x="644" y="798"/>
                </a:lnTo>
                <a:lnTo>
                  <a:pt x="648" y="793"/>
                </a:lnTo>
                <a:lnTo>
                  <a:pt x="651" y="787"/>
                </a:lnTo>
                <a:lnTo>
                  <a:pt x="654" y="780"/>
                </a:lnTo>
                <a:lnTo>
                  <a:pt x="658" y="774"/>
                </a:lnTo>
                <a:lnTo>
                  <a:pt x="659" y="766"/>
                </a:lnTo>
                <a:lnTo>
                  <a:pt x="660" y="759"/>
                </a:lnTo>
                <a:lnTo>
                  <a:pt x="661" y="751"/>
                </a:lnTo>
                <a:lnTo>
                  <a:pt x="660" y="740"/>
                </a:lnTo>
                <a:lnTo>
                  <a:pt x="658" y="730"/>
                </a:lnTo>
                <a:lnTo>
                  <a:pt x="653" y="720"/>
                </a:lnTo>
                <a:lnTo>
                  <a:pt x="649" y="710"/>
                </a:lnTo>
                <a:lnTo>
                  <a:pt x="643" y="702"/>
                </a:lnTo>
                <a:lnTo>
                  <a:pt x="635" y="695"/>
                </a:lnTo>
                <a:lnTo>
                  <a:pt x="627" y="689"/>
                </a:lnTo>
                <a:lnTo>
                  <a:pt x="618" y="684"/>
                </a:lnTo>
                <a:lnTo>
                  <a:pt x="629" y="637"/>
                </a:lnTo>
                <a:lnTo>
                  <a:pt x="630" y="635"/>
                </a:lnTo>
                <a:lnTo>
                  <a:pt x="630" y="634"/>
                </a:lnTo>
                <a:lnTo>
                  <a:pt x="717" y="274"/>
                </a:lnTo>
                <a:lnTo>
                  <a:pt x="765" y="75"/>
                </a:lnTo>
                <a:lnTo>
                  <a:pt x="886" y="75"/>
                </a:lnTo>
                <a:lnTo>
                  <a:pt x="889" y="75"/>
                </a:lnTo>
                <a:lnTo>
                  <a:pt x="891" y="74"/>
                </a:lnTo>
                <a:lnTo>
                  <a:pt x="895" y="73"/>
                </a:lnTo>
                <a:lnTo>
                  <a:pt x="897" y="70"/>
                </a:lnTo>
                <a:lnTo>
                  <a:pt x="899" y="68"/>
                </a:lnTo>
                <a:lnTo>
                  <a:pt x="900" y="66"/>
                </a:lnTo>
                <a:lnTo>
                  <a:pt x="901" y="63"/>
                </a:lnTo>
                <a:lnTo>
                  <a:pt x="901" y="60"/>
                </a:lnTo>
                <a:lnTo>
                  <a:pt x="901" y="57"/>
                </a:lnTo>
                <a:lnTo>
                  <a:pt x="900" y="54"/>
                </a:lnTo>
                <a:lnTo>
                  <a:pt x="899" y="51"/>
                </a:lnTo>
                <a:lnTo>
                  <a:pt x="897" y="49"/>
                </a:lnTo>
                <a:lnTo>
                  <a:pt x="895" y="47"/>
                </a:lnTo>
                <a:lnTo>
                  <a:pt x="891" y="46"/>
                </a:lnTo>
                <a:lnTo>
                  <a:pt x="889" y="45"/>
                </a:lnTo>
                <a:lnTo>
                  <a:pt x="886" y="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4344" descr="Icon of wrench. ">
            <a:extLst>
              <a:ext uri="{FF2B5EF4-FFF2-40B4-BE49-F238E27FC236}">
                <a16:creationId xmlns:a16="http://schemas.microsoft.com/office/drawing/2014/main" id="{C131659B-1A41-4821-9349-1E69BBBB560E}"/>
              </a:ext>
            </a:extLst>
          </p:cNvPr>
          <p:cNvSpPr>
            <a:spLocks/>
          </p:cNvSpPr>
          <p:nvPr/>
        </p:nvSpPr>
        <p:spPr bwMode="auto">
          <a:xfrm>
            <a:off x="3742205" y="2369169"/>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8FB81822-E09C-4A9F-BCD2-4BB20E38DA03}"/>
              </a:ext>
            </a:extLst>
          </p:cNvPr>
          <p:cNvGrpSpPr/>
          <p:nvPr/>
        </p:nvGrpSpPr>
        <p:grpSpPr>
          <a:xfrm>
            <a:off x="5905833" y="2296118"/>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4325703C-49C2-4EC8-BBAF-CE488FCB0CE1}"/>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A721923B-8DD3-47E1-B174-6D9950E778E9}"/>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A8E6691B-D48E-4F27-BFB8-39275098B1B8}"/>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5839F0C0-A423-4156-855A-E09BBC0F1685}"/>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DBE218E2-EA47-43F9-AF50-BC58701E5EAE}"/>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FB53FF3C-7C81-42D7-820B-328F83511B89}"/>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B2AFC166-3690-491C-BE8E-D33917F47E78}"/>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9740A41F-89FD-44D8-9D1F-332E7D538EDA}"/>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201B668C-AA5F-454E-8E64-CEA32A839FB8}"/>
              </a:ext>
            </a:extLst>
          </p:cNvPr>
          <p:cNvGrpSpPr/>
          <p:nvPr/>
        </p:nvGrpSpPr>
        <p:grpSpPr>
          <a:xfrm>
            <a:off x="8071577" y="2296118"/>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EEBBB4D9-8AD5-4868-B9F5-568F0C326607}"/>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4E9C428E-133B-4690-9ED6-8917E4F1E682}"/>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505F0C26-0335-4A1D-AA0D-8C830A4F0DE4}"/>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EE66CB30-F704-45C9-BA83-17BA7DC13889}"/>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6" name="Picture 5">
            <a:extLst>
              <a:ext uri="{FF2B5EF4-FFF2-40B4-BE49-F238E27FC236}">
                <a16:creationId xmlns:a16="http://schemas.microsoft.com/office/drawing/2014/main" id="{6C0107E1-E9BA-4C37-B9A5-BFB3D3D091A0}"/>
              </a:ext>
            </a:extLst>
          </p:cNvPr>
          <p:cNvPicPr>
            <a:picLocks noChangeAspect="1"/>
          </p:cNvPicPr>
          <p:nvPr/>
        </p:nvPicPr>
        <p:blipFill>
          <a:blip r:embed="rId3"/>
          <a:stretch>
            <a:fillRect/>
          </a:stretch>
        </p:blipFill>
        <p:spPr>
          <a:xfrm>
            <a:off x="3858269" y="822678"/>
            <a:ext cx="8073220" cy="2504282"/>
          </a:xfrm>
          <a:prstGeom prst="rect">
            <a:avLst/>
          </a:prstGeom>
        </p:spPr>
      </p:pic>
      <p:pic>
        <p:nvPicPr>
          <p:cNvPr id="16" name="Picture 15">
            <a:extLst>
              <a:ext uri="{FF2B5EF4-FFF2-40B4-BE49-F238E27FC236}">
                <a16:creationId xmlns:a16="http://schemas.microsoft.com/office/drawing/2014/main" id="{0B28B2D5-0526-4800-B717-9FE651E1E252}"/>
              </a:ext>
            </a:extLst>
          </p:cNvPr>
          <p:cNvPicPr>
            <a:picLocks noChangeAspect="1"/>
          </p:cNvPicPr>
          <p:nvPr/>
        </p:nvPicPr>
        <p:blipFill>
          <a:blip r:embed="rId4"/>
          <a:stretch>
            <a:fillRect/>
          </a:stretch>
        </p:blipFill>
        <p:spPr>
          <a:xfrm>
            <a:off x="162172" y="832615"/>
            <a:ext cx="3608608" cy="5602839"/>
          </a:xfrm>
          <a:prstGeom prst="rect">
            <a:avLst/>
          </a:prstGeom>
        </p:spPr>
      </p:pic>
      <p:pic>
        <p:nvPicPr>
          <p:cNvPr id="19" name="Picture 18">
            <a:extLst>
              <a:ext uri="{FF2B5EF4-FFF2-40B4-BE49-F238E27FC236}">
                <a16:creationId xmlns:a16="http://schemas.microsoft.com/office/drawing/2014/main" id="{AF6511AC-A2E8-43F7-B6C2-8D76A820E500}"/>
              </a:ext>
            </a:extLst>
          </p:cNvPr>
          <p:cNvPicPr>
            <a:picLocks noChangeAspect="1"/>
          </p:cNvPicPr>
          <p:nvPr/>
        </p:nvPicPr>
        <p:blipFill>
          <a:blip r:embed="rId5"/>
          <a:stretch>
            <a:fillRect/>
          </a:stretch>
        </p:blipFill>
        <p:spPr>
          <a:xfrm>
            <a:off x="4214933" y="3586998"/>
            <a:ext cx="4713748" cy="2930788"/>
          </a:xfrm>
          <a:prstGeom prst="rect">
            <a:avLst/>
          </a:prstGeom>
        </p:spPr>
      </p:pic>
    </p:spTree>
    <p:extLst>
      <p:ext uri="{BB962C8B-B14F-4D97-AF65-F5344CB8AC3E}">
        <p14:creationId xmlns:p14="http://schemas.microsoft.com/office/powerpoint/2010/main" val="1652676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IN" sz="4600" b="1" dirty="0">
                <a:latin typeface="Arial" panose="020B0604020202020204" pitchFamily="34" charset="0"/>
                <a:cs typeface="Arial" panose="020B0604020202020204" pitchFamily="34" charset="0"/>
              </a:rPr>
              <a:t>Business Question:</a:t>
            </a:r>
          </a:p>
          <a:p>
            <a:pPr marL="0" indent="0" algn="just">
              <a:lnSpc>
                <a:spcPct val="120000"/>
              </a:lnSpc>
              <a:buNone/>
            </a:pPr>
            <a:r>
              <a:rPr lang="en-IN" sz="4000" dirty="0">
                <a:latin typeface="Arial" panose="020B0604020202020204" pitchFamily="34" charset="0"/>
                <a:cs typeface="Arial" panose="020B0604020202020204" pitchFamily="34" charset="0"/>
              </a:rPr>
              <a:t>How do supplier regions and categories affect product pricing?</a:t>
            </a:r>
          </a:p>
          <a:p>
            <a:pPr marL="0" indent="0" algn="just">
              <a:lnSpc>
                <a:spcPct val="120000"/>
              </a:lnSpc>
              <a:buNone/>
            </a:pPr>
            <a:r>
              <a:rPr lang="en-IN" sz="4600" b="1" dirty="0">
                <a:latin typeface="Arial" panose="020B0604020202020204" pitchFamily="34" charset="0"/>
                <a:cs typeface="Arial" panose="020B0604020202020204" pitchFamily="34" charset="0"/>
              </a:rPr>
              <a:t>Analysis Approach:</a:t>
            </a:r>
          </a:p>
          <a:p>
            <a:pPr algn="just">
              <a:lnSpc>
                <a:spcPct val="120000"/>
              </a:lnSpc>
            </a:pPr>
            <a:r>
              <a:rPr lang="en-IN" sz="4000" dirty="0">
                <a:latin typeface="Arial" panose="020B0604020202020204" pitchFamily="34" charset="0"/>
                <a:cs typeface="Arial" panose="020B0604020202020204" pitchFamily="34" charset="0"/>
              </a:rPr>
              <a:t>Excel region-category-price pivot.</a:t>
            </a:r>
          </a:p>
          <a:p>
            <a:pPr algn="just">
              <a:lnSpc>
                <a:spcPct val="120000"/>
              </a:lnSpc>
            </a:pPr>
            <a:r>
              <a:rPr lang="en-IN" sz="4000" dirty="0">
                <a:latin typeface="Arial" panose="020B0604020202020204" pitchFamily="34" charset="0"/>
                <a:cs typeface="Arial" panose="020B0604020202020204" pitchFamily="34" charset="0"/>
              </a:rPr>
              <a:t>Power BI supplier visuals.</a:t>
            </a:r>
          </a:p>
          <a:p>
            <a:pPr marL="0" indent="0" algn="just">
              <a:lnSpc>
                <a:spcPct val="120000"/>
              </a:lnSpc>
              <a:buNone/>
            </a:pPr>
            <a:r>
              <a:rPr lang="en-IN" sz="4600" b="1" dirty="0">
                <a:latin typeface="Arial" panose="020B0604020202020204" pitchFamily="34" charset="0"/>
                <a:cs typeface="Arial" panose="020B0604020202020204" pitchFamily="34" charset="0"/>
              </a:rPr>
              <a:t>Key Insights:</a:t>
            </a:r>
          </a:p>
          <a:p>
            <a:pPr algn="just">
              <a:lnSpc>
                <a:spcPct val="120000"/>
              </a:lnSpc>
            </a:pPr>
            <a:r>
              <a:rPr lang="en-IN" sz="4000" dirty="0">
                <a:latin typeface="Arial" panose="020B0604020202020204" pitchFamily="34" charset="0"/>
                <a:cs typeface="Arial" panose="020B0604020202020204" pitchFamily="34" charset="0"/>
              </a:rPr>
              <a:t>Europe &amp; Japan supply higher-priced products.</a:t>
            </a:r>
          </a:p>
          <a:p>
            <a:pPr algn="just">
              <a:lnSpc>
                <a:spcPct val="120000"/>
              </a:lnSpc>
            </a:pPr>
            <a:r>
              <a:rPr lang="en-IN" sz="4000" dirty="0">
                <a:latin typeface="Arial" panose="020B0604020202020204" pitchFamily="34" charset="0"/>
                <a:cs typeface="Arial" panose="020B0604020202020204" pitchFamily="34" charset="0"/>
              </a:rPr>
              <a:t>Brazil &amp; USA supply mid-to-low priced products.</a:t>
            </a:r>
          </a:p>
          <a:p>
            <a:pPr algn="just">
              <a:lnSpc>
                <a:spcPct val="120000"/>
              </a:lnSpc>
            </a:pPr>
            <a:r>
              <a:rPr lang="en-IN" sz="4000" dirty="0">
                <a:latin typeface="Arial" panose="020B0604020202020204" pitchFamily="34" charset="0"/>
                <a:cs typeface="Arial" panose="020B0604020202020204" pitchFamily="34" charset="0"/>
              </a:rPr>
              <a:t>Pricing varies significantly by region &amp; category.</a:t>
            </a:r>
          </a:p>
          <a:p>
            <a:pPr marL="0" indent="0" algn="just">
              <a:lnSpc>
                <a:spcPct val="120000"/>
              </a:lnSpc>
              <a:buNone/>
            </a:pPr>
            <a:r>
              <a:rPr lang="en-IN" sz="4600" b="1" dirty="0">
                <a:latin typeface="Arial" panose="020B0604020202020204" pitchFamily="34" charset="0"/>
                <a:cs typeface="Arial" panose="020B0604020202020204" pitchFamily="34" charset="0"/>
              </a:rPr>
              <a:t>Business Recommendation:</a:t>
            </a:r>
          </a:p>
          <a:p>
            <a:pPr algn="just">
              <a:lnSpc>
                <a:spcPct val="120000"/>
              </a:lnSpc>
            </a:pPr>
            <a:r>
              <a:rPr lang="en-IN" sz="4000" dirty="0">
                <a:latin typeface="Arial" panose="020B0604020202020204" pitchFamily="34" charset="0"/>
                <a:cs typeface="Arial" panose="020B0604020202020204" pitchFamily="34" charset="0"/>
              </a:rPr>
              <a:t>Source essentials from low-cost regions.</a:t>
            </a:r>
          </a:p>
          <a:p>
            <a:pPr algn="just">
              <a:lnSpc>
                <a:spcPct val="120000"/>
              </a:lnSpc>
            </a:pPr>
            <a:r>
              <a:rPr lang="en-IN" sz="4000" dirty="0">
                <a:latin typeface="Arial" panose="020B0604020202020204" pitchFamily="34" charset="0"/>
                <a:cs typeface="Arial" panose="020B0604020202020204" pitchFamily="34" charset="0"/>
              </a:rPr>
              <a:t>Premium categories from high-quality regions.</a:t>
            </a:r>
          </a:p>
          <a:p>
            <a:pPr algn="just">
              <a:lnSpc>
                <a:spcPct val="120000"/>
              </a:lnSpc>
            </a:pPr>
            <a:r>
              <a:rPr lang="en-IN" sz="4000" dirty="0">
                <a:latin typeface="Arial" panose="020B0604020202020204" pitchFamily="34" charset="0"/>
                <a:cs typeface="Arial" panose="020B0604020202020204" pitchFamily="34" charset="0"/>
              </a:rPr>
              <a:t>Diversify suppliers to reduce risk</a:t>
            </a:r>
            <a:endParaRPr lang="en-IN" dirty="0"/>
          </a:p>
        </p:txBody>
      </p:sp>
    </p:spTree>
    <p:extLst>
      <p:ext uri="{BB962C8B-B14F-4D97-AF65-F5344CB8AC3E}">
        <p14:creationId xmlns:p14="http://schemas.microsoft.com/office/powerpoint/2010/main" val="663051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740877" y="522898"/>
            <a:ext cx="3451123"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Power BI Dashboard Overview</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38229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endParaRPr lang="en-IN" dirty="0"/>
          </a:p>
        </p:txBody>
      </p:sp>
      <p:sp>
        <p:nvSpPr>
          <p:cNvPr id="10" name="TextBox 9">
            <a:extLst>
              <a:ext uri="{FF2B5EF4-FFF2-40B4-BE49-F238E27FC236}">
                <a16:creationId xmlns:a16="http://schemas.microsoft.com/office/drawing/2014/main" id="{B3D15116-D25D-4510-9C1C-F93F4712935E}"/>
              </a:ext>
            </a:extLst>
          </p:cNvPr>
          <p:cNvSpPr txBox="1"/>
          <p:nvPr/>
        </p:nvSpPr>
        <p:spPr>
          <a:xfrm>
            <a:off x="1163643" y="3018399"/>
            <a:ext cx="9864714" cy="3416320"/>
          </a:xfrm>
          <a:prstGeom prst="rect">
            <a:avLst/>
          </a:prstGeom>
          <a:noFill/>
        </p:spPr>
        <p:txBody>
          <a:bodyPr wrap="square">
            <a:spAutoFit/>
          </a:bodyPr>
          <a:lstStyle/>
          <a:p>
            <a:pPr algn="just"/>
            <a:r>
              <a:rPr lang="en-IN" dirty="0">
                <a:latin typeface="Arial" panose="020B0604020202020204" pitchFamily="34" charset="0"/>
                <a:cs typeface="Arial" panose="020B0604020202020204" pitchFamily="34" charset="0"/>
              </a:rPr>
              <a:t>The Power BI dashboard provides an interactive view of Northwind’s business performance across sales, customers, products, employees, and suppliers.</a:t>
            </a:r>
          </a:p>
          <a:p>
            <a:pPr algn="just"/>
            <a:r>
              <a:rPr lang="en-IN" dirty="0">
                <a:latin typeface="Arial" panose="020B0604020202020204" pitchFamily="34" charset="0"/>
                <a:cs typeface="Arial" panose="020B0604020202020204" pitchFamily="34" charset="0"/>
              </a:rPr>
              <a:t>Users can filter data by region, category, and time period to explore trends and drill down into detailed insights.</a:t>
            </a:r>
          </a:p>
          <a:p>
            <a:pPr algn="just"/>
            <a:endParaRPr lang="en-IN" dirty="0"/>
          </a:p>
          <a:p>
            <a:pPr algn="just"/>
            <a:r>
              <a:rPr lang="en-IN" dirty="0">
                <a:latin typeface="Arial Black" panose="020B0A04020102020204" pitchFamily="34" charset="0"/>
              </a:rPr>
              <a:t>Key Features:</a:t>
            </a:r>
          </a:p>
          <a:p>
            <a:pPr algn="just"/>
            <a:endParaRPr lang="en-IN" dirty="0"/>
          </a:p>
          <a:p>
            <a:pPr marL="285750" indent="-285750" algn="just">
              <a:buFont typeface="Arial" panose="020B0604020202020204" pitchFamily="34" charset="0"/>
              <a:buChar char="•"/>
            </a:pPr>
            <a:r>
              <a:rPr lang="en-IN" dirty="0">
                <a:latin typeface="Arial" panose="020B0604020202020204" pitchFamily="34" charset="0"/>
                <a:cs typeface="Arial" panose="020B0604020202020204" pitchFamily="34" charset="0"/>
              </a:rPr>
              <a:t>Total Sales, Profit, Quantity KPIs.</a:t>
            </a:r>
          </a:p>
          <a:p>
            <a:pPr marL="285750" indent="-285750" algn="just">
              <a:buFont typeface="Arial" panose="020B0604020202020204" pitchFamily="34" charset="0"/>
              <a:buChar char="•"/>
            </a:pPr>
            <a:r>
              <a:rPr lang="en-IN" dirty="0">
                <a:latin typeface="Arial" panose="020B0604020202020204" pitchFamily="34" charset="0"/>
                <a:cs typeface="Arial" panose="020B0604020202020204" pitchFamily="34" charset="0"/>
              </a:rPr>
              <a:t>Sales by Category &amp; Country.</a:t>
            </a:r>
          </a:p>
          <a:p>
            <a:pPr marL="285750" indent="-285750" algn="just">
              <a:buFont typeface="Arial" panose="020B0604020202020204" pitchFamily="34" charset="0"/>
              <a:buChar char="•"/>
            </a:pPr>
            <a:r>
              <a:rPr lang="en-IN" dirty="0">
                <a:latin typeface="Arial" panose="020B0604020202020204" pitchFamily="34" charset="0"/>
                <a:cs typeface="Arial" panose="020B0604020202020204" pitchFamily="34" charset="0"/>
              </a:rPr>
              <a:t>Top Customers &amp; Products.</a:t>
            </a:r>
          </a:p>
          <a:p>
            <a:pPr marL="285750" indent="-285750" algn="just">
              <a:buFont typeface="Arial" panose="020B0604020202020204" pitchFamily="34" charset="0"/>
              <a:buChar char="•"/>
            </a:pPr>
            <a:r>
              <a:rPr lang="en-IN" dirty="0">
                <a:latin typeface="Arial" panose="020B0604020202020204" pitchFamily="34" charset="0"/>
                <a:cs typeface="Arial" panose="020B0604020202020204" pitchFamily="34" charset="0"/>
              </a:rPr>
              <a:t>Monthly Sales Trend.</a:t>
            </a:r>
          </a:p>
          <a:p>
            <a:pPr marL="285750" indent="-285750" algn="just">
              <a:buFont typeface="Arial" panose="020B0604020202020204" pitchFamily="34" charset="0"/>
              <a:buChar char="•"/>
            </a:pPr>
            <a:r>
              <a:rPr lang="en-IN" dirty="0">
                <a:latin typeface="Arial" panose="020B0604020202020204" pitchFamily="34" charset="0"/>
                <a:cs typeface="Arial" panose="020B0604020202020204" pitchFamily="34" charset="0"/>
              </a:rPr>
              <a:t>Employee &amp; Supplier Distribution</a:t>
            </a:r>
          </a:p>
        </p:txBody>
      </p:sp>
      <p:pic>
        <p:nvPicPr>
          <p:cNvPr id="9" name="Picture 8">
            <a:extLst>
              <a:ext uri="{FF2B5EF4-FFF2-40B4-BE49-F238E27FC236}">
                <a16:creationId xmlns:a16="http://schemas.microsoft.com/office/drawing/2014/main" id="{4563F0BC-670C-4B57-A267-4B5DC0617D72}"/>
              </a:ext>
            </a:extLst>
          </p:cNvPr>
          <p:cNvPicPr>
            <a:picLocks noChangeAspect="1"/>
          </p:cNvPicPr>
          <p:nvPr/>
        </p:nvPicPr>
        <p:blipFill>
          <a:blip r:embed="rId3"/>
          <a:stretch>
            <a:fillRect/>
          </a:stretch>
        </p:blipFill>
        <p:spPr>
          <a:xfrm>
            <a:off x="1163643" y="1083233"/>
            <a:ext cx="9897856" cy="1581371"/>
          </a:xfrm>
          <a:prstGeom prst="rect">
            <a:avLst/>
          </a:prstGeom>
        </p:spPr>
      </p:pic>
    </p:spTree>
    <p:extLst>
      <p:ext uri="{BB962C8B-B14F-4D97-AF65-F5344CB8AC3E}">
        <p14:creationId xmlns:p14="http://schemas.microsoft.com/office/powerpoint/2010/main" val="694525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298426" y="522898"/>
            <a:ext cx="389357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accent3">
                    <a:lumMod val="75000"/>
                  </a:schemeClr>
                </a:solidFill>
              </a:rPr>
              <a:t>Key Insights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74609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endParaRPr lang="en-IN" dirty="0"/>
          </a:p>
        </p:txBody>
      </p:sp>
      <p:sp>
        <p:nvSpPr>
          <p:cNvPr id="10" name="TextBox 9">
            <a:extLst>
              <a:ext uri="{FF2B5EF4-FFF2-40B4-BE49-F238E27FC236}">
                <a16:creationId xmlns:a16="http://schemas.microsoft.com/office/drawing/2014/main" id="{B3D15116-D25D-4510-9C1C-F93F4712935E}"/>
              </a:ext>
            </a:extLst>
          </p:cNvPr>
          <p:cNvSpPr txBox="1"/>
          <p:nvPr/>
        </p:nvSpPr>
        <p:spPr>
          <a:xfrm>
            <a:off x="1353892" y="3556175"/>
            <a:ext cx="10116915" cy="3046988"/>
          </a:xfrm>
          <a:prstGeom prst="rect">
            <a:avLst/>
          </a:prstGeom>
          <a:noFill/>
        </p:spPr>
        <p:txBody>
          <a:bodyPr wrap="square">
            <a:spAutoFit/>
          </a:bodyPr>
          <a:lstStyle/>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High-value customers contribute the majority of revenue.</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USA, Germany, France, and Brazil are the strongest markets.</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Dairy, Beverages, and Confections are top-performing categories.</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Product pricing strongly influences total sales.</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Demand shows clear seasonality (Jan–May high, Jun–Jul low).</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Supplier pricing varies significantly by region.</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Few products generate extremely high revenue (outliers).</a:t>
            </a:r>
          </a:p>
          <a:p>
            <a:pPr marL="342900" indent="-342900" algn="just">
              <a:buFont typeface="Arial" panose="020B0604020202020204" pitchFamily="34" charset="0"/>
              <a:buChar char="•"/>
            </a:pPr>
            <a:r>
              <a:rPr lang="en-IN" sz="2400" dirty="0">
                <a:latin typeface="Arial" panose="020B0604020202020204" pitchFamily="34" charset="0"/>
                <a:cs typeface="Arial" panose="020B0604020202020204" pitchFamily="34" charset="0"/>
              </a:rPr>
              <a:t>Sales workforce forms the majority of employees.</a:t>
            </a:r>
          </a:p>
        </p:txBody>
      </p:sp>
      <p:pic>
        <p:nvPicPr>
          <p:cNvPr id="5" name="Picture 4">
            <a:extLst>
              <a:ext uri="{FF2B5EF4-FFF2-40B4-BE49-F238E27FC236}">
                <a16:creationId xmlns:a16="http://schemas.microsoft.com/office/drawing/2014/main" id="{461E7394-AA71-4D9D-B38E-C28A3BBD06EE}"/>
              </a:ext>
            </a:extLst>
          </p:cNvPr>
          <p:cNvPicPr>
            <a:picLocks noChangeAspect="1"/>
          </p:cNvPicPr>
          <p:nvPr/>
        </p:nvPicPr>
        <p:blipFill>
          <a:blip r:embed="rId3"/>
          <a:stretch>
            <a:fillRect/>
          </a:stretch>
        </p:blipFill>
        <p:spPr>
          <a:xfrm>
            <a:off x="114300" y="722133"/>
            <a:ext cx="3300580" cy="2834042"/>
          </a:xfrm>
          <a:prstGeom prst="rect">
            <a:avLst/>
          </a:prstGeom>
        </p:spPr>
      </p:pic>
      <p:pic>
        <p:nvPicPr>
          <p:cNvPr id="12" name="Picture 11">
            <a:extLst>
              <a:ext uri="{FF2B5EF4-FFF2-40B4-BE49-F238E27FC236}">
                <a16:creationId xmlns:a16="http://schemas.microsoft.com/office/drawing/2014/main" id="{F4F4FFE7-56CB-432F-9327-D844D615C128}"/>
              </a:ext>
            </a:extLst>
          </p:cNvPr>
          <p:cNvPicPr>
            <a:picLocks noChangeAspect="1"/>
          </p:cNvPicPr>
          <p:nvPr/>
        </p:nvPicPr>
        <p:blipFill>
          <a:blip r:embed="rId4"/>
          <a:stretch>
            <a:fillRect/>
          </a:stretch>
        </p:blipFill>
        <p:spPr>
          <a:xfrm>
            <a:off x="3529180" y="776970"/>
            <a:ext cx="4314850" cy="2724367"/>
          </a:xfrm>
          <a:prstGeom prst="rect">
            <a:avLst/>
          </a:prstGeom>
        </p:spPr>
      </p:pic>
    </p:spTree>
    <p:extLst>
      <p:ext uri="{BB962C8B-B14F-4D97-AF65-F5344CB8AC3E}">
        <p14:creationId xmlns:p14="http://schemas.microsoft.com/office/powerpoint/2010/main" val="634592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9330813" y="522898"/>
            <a:ext cx="286118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47090"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3">
                    <a:lumMod val="75000"/>
                  </a:schemeClr>
                </a:solidFill>
              </a:rPr>
              <a:t>Business Recommendations</a:t>
            </a:r>
            <a:endParaRPr lang="en-US" sz="36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290051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endParaRPr lang="en-IN" dirty="0"/>
          </a:p>
        </p:txBody>
      </p:sp>
      <p:sp>
        <p:nvSpPr>
          <p:cNvPr id="10" name="TextBox 9">
            <a:extLst>
              <a:ext uri="{FF2B5EF4-FFF2-40B4-BE49-F238E27FC236}">
                <a16:creationId xmlns:a16="http://schemas.microsoft.com/office/drawing/2014/main" id="{B3D15116-D25D-4510-9C1C-F93F4712935E}"/>
              </a:ext>
            </a:extLst>
          </p:cNvPr>
          <p:cNvSpPr txBox="1"/>
          <p:nvPr/>
        </p:nvSpPr>
        <p:spPr>
          <a:xfrm>
            <a:off x="1037542" y="1120601"/>
            <a:ext cx="10116915" cy="4524315"/>
          </a:xfrm>
          <a:prstGeom prst="rect">
            <a:avLst/>
          </a:prstGeom>
          <a:noFill/>
        </p:spPr>
        <p:txBody>
          <a:bodyPr wrap="square">
            <a:spAutoFit/>
          </a:bodyPr>
          <a:lstStyle/>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Focus on retention of high-value customers.</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Increase marketing and stock in top-performing regions.</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Optimize seasonal inventory planning.</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Promote premium and high-margin products.</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Re-evaluate low-performing products.</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Build long-term partnerships with cost-effective suppliers.</a:t>
            </a:r>
          </a:p>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Use data-driven pricing strategies.</a:t>
            </a:r>
          </a:p>
        </p:txBody>
      </p:sp>
    </p:spTree>
    <p:extLst>
      <p:ext uri="{BB962C8B-B14F-4D97-AF65-F5344CB8AC3E}">
        <p14:creationId xmlns:p14="http://schemas.microsoft.com/office/powerpoint/2010/main" val="731320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846142" y="522898"/>
            <a:ext cx="434585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323665"/>
            <a:ext cx="11747090"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3">
                    <a:lumMod val="75000"/>
                  </a:schemeClr>
                </a:solidFill>
              </a:rPr>
              <a:t>Conclusion</a:t>
            </a:r>
            <a:endParaRPr lang="en-US" sz="36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3360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79" name="Content Placeholder 2">
            <a:extLst>
              <a:ext uri="{FF2B5EF4-FFF2-40B4-BE49-F238E27FC236}">
                <a16:creationId xmlns:a16="http://schemas.microsoft.com/office/drawing/2014/main" id="{B3C1BF92-3FB5-4E32-B6B8-55889DF50DE2}"/>
              </a:ext>
            </a:extLst>
          </p:cNvPr>
          <p:cNvSpPr txBox="1">
            <a:spLocks/>
          </p:cNvSpPr>
          <p:nvPr/>
        </p:nvSpPr>
        <p:spPr>
          <a:xfrm>
            <a:off x="911441" y="921367"/>
            <a:ext cx="10369118" cy="56129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endParaRPr lang="en-IN" dirty="0"/>
          </a:p>
        </p:txBody>
      </p:sp>
      <p:sp>
        <p:nvSpPr>
          <p:cNvPr id="10" name="TextBox 9">
            <a:extLst>
              <a:ext uri="{FF2B5EF4-FFF2-40B4-BE49-F238E27FC236}">
                <a16:creationId xmlns:a16="http://schemas.microsoft.com/office/drawing/2014/main" id="{B3D15116-D25D-4510-9C1C-F93F4712935E}"/>
              </a:ext>
            </a:extLst>
          </p:cNvPr>
          <p:cNvSpPr txBox="1"/>
          <p:nvPr/>
        </p:nvSpPr>
        <p:spPr>
          <a:xfrm>
            <a:off x="1037542" y="1120601"/>
            <a:ext cx="10116915" cy="4524315"/>
          </a:xfrm>
          <a:prstGeom prst="rect">
            <a:avLst/>
          </a:prstGeom>
          <a:noFill/>
        </p:spPr>
        <p:txBody>
          <a:bodyPr wrap="square">
            <a:spAutoFit/>
          </a:bodyPr>
          <a:lstStyle/>
          <a:p>
            <a:pPr marL="342900" indent="-342900" algn="just">
              <a:buFont typeface="Arial" panose="020B0604020202020204" pitchFamily="34" charset="0"/>
              <a:buChar char="•"/>
            </a:pPr>
            <a:r>
              <a:rPr lang="en-IN" sz="3200" dirty="0">
                <a:latin typeface="Arial" panose="020B0604020202020204" pitchFamily="34" charset="0"/>
                <a:cs typeface="Arial" panose="020B0604020202020204" pitchFamily="34" charset="0"/>
              </a:rPr>
              <a:t>This project successfully transformed raw Northwind data into meaningful business insights using Excel and Power BI. The analysis highlights patterns in customer behaviour, sales performance, supplier pricing, and workforce structure. By applying these insights, Northwind can improve profitability, optimize operations, and make better strategic decisions. The dashboard provides a strong foundation for future forecasting and advanced analytics.</a:t>
            </a:r>
          </a:p>
        </p:txBody>
      </p:sp>
    </p:spTree>
    <p:extLst>
      <p:ext uri="{BB962C8B-B14F-4D97-AF65-F5344CB8AC3E}">
        <p14:creationId xmlns:p14="http://schemas.microsoft.com/office/powerpoint/2010/main" val="2338316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7" y="1445745"/>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534</TotalTime>
  <Words>2491</Words>
  <Application>Microsoft Office PowerPoint</Application>
  <PresentationFormat>Widescreen</PresentationFormat>
  <Paragraphs>322</Paragraphs>
  <Slides>31</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Arial Black</vt:lpstr>
      <vt:lpstr>Calibri</vt:lpstr>
      <vt:lpstr>Century Gothic</vt:lpstr>
      <vt:lpstr>Segoe UI Light</vt:lpstr>
      <vt:lpstr>Office Theme</vt:lpstr>
      <vt:lpstr>Northwind Traders Sales &amp; Operation Analysis</vt:lpstr>
      <vt:lpstr>Project Overview</vt:lpstr>
      <vt:lpstr>Objective</vt:lpstr>
      <vt:lpstr>Significance of This Analysis </vt:lpstr>
      <vt:lpstr>Project analysis slide 8</vt:lpstr>
      <vt:lpstr>ER Diagram </vt:lpstr>
      <vt:lpstr>Steps Followed in Project </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6</vt:lpstr>
      <vt:lpstr>Project analysis slide 3</vt:lpstr>
      <vt:lpstr>Project analysis slide 3</vt:lpstr>
      <vt:lpstr>Project analysis slide 6</vt:lpstr>
      <vt:lpstr>Project analysis slide 6</vt:lpstr>
      <vt:lpstr>Project analysis slide 6</vt:lpstr>
      <vt:lpstr>Project analysis slide 6</vt:lpstr>
      <vt:lpstr>Project analysis slide 6</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Northwind Traders Sales &amp; Operation Analysis</dc:title>
  <dc:creator>Ralp Groups</dc:creator>
  <cp:lastModifiedBy>Ralp Groups</cp:lastModifiedBy>
  <cp:revision>35</cp:revision>
  <dcterms:created xsi:type="dcterms:W3CDTF">2025-12-07T19:35:56Z</dcterms:created>
  <dcterms:modified xsi:type="dcterms:W3CDTF">2026-03-10T08:09:19Z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